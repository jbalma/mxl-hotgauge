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0" r:id="rId1"/>
  </p:sldMasterIdLst>
  <p:notesMasterIdLst>
    <p:notesMasterId r:id="rId21"/>
  </p:notesMasterIdLst>
  <p:sldIdLst>
    <p:sldId id="256" r:id="rId2"/>
    <p:sldId id="296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304" r:id="rId11"/>
    <p:sldId id="305" r:id="rId12"/>
    <p:sldId id="306" r:id="rId13"/>
    <p:sldId id="307" r:id="rId14"/>
    <p:sldId id="308" r:id="rId15"/>
    <p:sldId id="309" r:id="rId16"/>
    <p:sldId id="310" r:id="rId17"/>
    <p:sldId id="312" r:id="rId18"/>
    <p:sldId id="314" r:id="rId19"/>
    <p:sldId id="313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ad Arslan" initials="SA" lastIdx="1" clrIdx="0">
    <p:extLst>
      <p:ext uri="{19B8F6BF-5375-455C-9EA6-DF929625EA0E}">
        <p15:presenceInfo xmlns:p15="http://schemas.microsoft.com/office/powerpoint/2012/main" userId="53024bd296122055" providerId="Windows Live"/>
      </p:ext>
    </p:extLst>
  </p:cmAuthor>
  <p:cmAuthor id="2" name="Saad Arslan" initials="SA [2]" lastIdx="1" clrIdx="1">
    <p:extLst>
      <p:ext uri="{19B8F6BF-5375-455C-9EA6-DF929625EA0E}">
        <p15:presenceInfo xmlns:p15="http://schemas.microsoft.com/office/powerpoint/2012/main" userId="Saad Arsla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1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08" autoAdjust="0"/>
    <p:restoredTop sz="94660"/>
  </p:normalViewPr>
  <p:slideViewPr>
    <p:cSldViewPr snapToGrid="0">
      <p:cViewPr varScale="1">
        <p:scale>
          <a:sx n="69" d="100"/>
          <a:sy n="69" d="100"/>
        </p:scale>
        <p:origin x="123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7F3B3-9FD6-46F9-926A-F318858E1EC8}" type="datetimeFigureOut">
              <a:rPr lang="en-US" smtClean="0"/>
              <a:t>2/24/2016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D72B49-F101-400F-9272-680161DC5F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448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14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517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920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0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376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487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COMSATS Institute of Information Technology, Islamabad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939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Saad Arslan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COMSATS Institute of Information Technology, Islamabad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916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963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9107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00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8D0BAA2-EECB-4E3D-9980-7486EA816E1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3808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1" r:id="rId1"/>
    <p:sldLayoutId id="2147483822" r:id="rId2"/>
    <p:sldLayoutId id="2147483823" r:id="rId3"/>
    <p:sldLayoutId id="2147483824" r:id="rId4"/>
    <p:sldLayoutId id="2147483825" r:id="rId5"/>
    <p:sldLayoutId id="2147483826" r:id="rId6"/>
    <p:sldLayoutId id="2147483827" r:id="rId7"/>
    <p:sldLayoutId id="2147483828" r:id="rId8"/>
    <p:sldLayoutId id="2147483829" r:id="rId9"/>
    <p:sldLayoutId id="2147483830" r:id="rId10"/>
    <p:sldLayoutId id="2147483831" r:id="rId11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emf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2.png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8.emf"/><Relationship Id="rId7" Type="http://schemas.openxmlformats.org/officeDocument/2006/relationships/image" Target="../media/image9.emf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10.emf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1.emf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8.emf"/><Relationship Id="rId4" Type="http://schemas.openxmlformats.org/officeDocument/2006/relationships/image" Target="../media/image5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Physical Structure of CMOS ICs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Lecture# 05</a:t>
            </a:r>
          </a:p>
          <a:p>
            <a:r>
              <a:rPr lang="en-US" dirty="0"/>
              <a:t>VLSI Design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236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Structure of CMOS Integrated Circuits</a:t>
            </a:r>
            <a:endParaRPr lang="en-P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CMOS IC is a electronic switching network</a:t>
            </a:r>
          </a:p>
          <a:p>
            <a:pPr lvl="1"/>
            <a:r>
              <a:rPr lang="en-US" dirty="0"/>
              <a:t>Created in a small area</a:t>
            </a:r>
          </a:p>
          <a:p>
            <a:pPr lvl="1"/>
            <a:r>
              <a:rPr lang="en-US" dirty="0"/>
              <a:t>Using complex physical and chemical processes</a:t>
            </a:r>
          </a:p>
          <a:p>
            <a:r>
              <a:rPr lang="en-US" dirty="0"/>
              <a:t>In the design hierarchy the last task is to</a:t>
            </a:r>
          </a:p>
          <a:p>
            <a:pPr lvl="1"/>
            <a:r>
              <a:rPr lang="en-US" dirty="0"/>
              <a:t>Translate circuit schematics in to silicon form</a:t>
            </a:r>
          </a:p>
          <a:p>
            <a:pPr lvl="1"/>
            <a:r>
              <a:rPr lang="en-US" dirty="0"/>
              <a:t>Called physical design</a:t>
            </a:r>
          </a:p>
          <a:p>
            <a:r>
              <a:rPr lang="en-US" dirty="0"/>
              <a:t>In this chapter we will examine the structure of CMOS IC</a:t>
            </a:r>
          </a:p>
          <a:p>
            <a:pPr lvl="1"/>
            <a:r>
              <a:rPr lang="en-US" dirty="0"/>
              <a:t>At the microscopic level</a:t>
            </a:r>
            <a:endParaRPr lang="en-P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016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Circuit Layers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 silicon IC is a collection of patterned material layers</a:t>
                </a:r>
              </a:p>
              <a:p>
                <a:pPr lvl="1"/>
                <a:r>
                  <a:rPr lang="en-US" dirty="0"/>
                  <a:t>The layers are of metals, insulators and semiconductor (silicon)</a:t>
                </a:r>
              </a:p>
              <a:p>
                <a:r>
                  <a:rPr lang="en-US" dirty="0"/>
                  <a:t>The layers are stacked upon one another in a specific order</a:t>
                </a:r>
              </a:p>
              <a:p>
                <a:pPr lvl="1"/>
                <a:r>
                  <a:rPr lang="en-US" dirty="0"/>
                  <a:t>To form 3D structures that act as electronic switching network</a:t>
                </a:r>
              </a:p>
              <a:p>
                <a:r>
                  <a:rPr lang="en-US" dirty="0"/>
                  <a:t>The silicon forms the transistors, diodes etc.</a:t>
                </a:r>
              </a:p>
              <a:p>
                <a:r>
                  <a:rPr lang="en-US" dirty="0"/>
                  <a:t>Metals forms the interconnects and contacts</a:t>
                </a:r>
              </a:p>
              <a:p>
                <a:r>
                  <a:rPr lang="en-US" dirty="0"/>
                  <a:t>The insulator do their job of blocking current (insulating layers)</a:t>
                </a:r>
              </a:p>
              <a:p>
                <a:pPr lvl="1"/>
                <a:r>
                  <a:rPr lang="en-US" dirty="0"/>
                  <a:t>Usually when designing layout, the insulating layers are implied</a:t>
                </a:r>
              </a:p>
              <a:p>
                <a:pPr lvl="1"/>
                <a:r>
                  <a:rPr lang="en-US" dirty="0"/>
                  <a:t>And not explicitly shown in the design</a:t>
                </a:r>
              </a:p>
              <a:p>
                <a:r>
                  <a:rPr lang="en-US" dirty="0"/>
                  <a:t>Insulating layers are usually silicon dioxide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) called quartz glass</a:t>
                </a:r>
              </a:p>
              <a:p>
                <a:pPr lvl="1"/>
                <a:r>
                  <a:rPr lang="en-US" dirty="0"/>
                  <a:t>Which is visually transparent</a:t>
                </a:r>
              </a:p>
              <a:p>
                <a:endParaRPr lang="en-US" dirty="0"/>
              </a:p>
              <a:p>
                <a:pPr lvl="1"/>
                <a:endParaRPr lang="en-P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8" t="-227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20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Circuit Layers cont.</a:t>
            </a:r>
            <a:endParaRPr lang="en-P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4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596" y="1930268"/>
            <a:ext cx="3010718" cy="25181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5364" y="4800404"/>
            <a:ext cx="1645564" cy="112359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4571" y="4800404"/>
            <a:ext cx="1645564" cy="12351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729855" y="2328053"/>
            <a:ext cx="921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Insulator</a:t>
            </a:r>
            <a:endParaRPr lang="en-PK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4683899" y="2754535"/>
            <a:ext cx="972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Substrate</a:t>
            </a:r>
            <a:endParaRPr lang="en-PK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154497" y="1815322"/>
            <a:ext cx="822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Metal 1</a:t>
            </a:r>
            <a:endParaRPr lang="en-PK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289955" y="5932782"/>
            <a:ext cx="1092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Side view</a:t>
            </a:r>
            <a:endParaRPr lang="en-PK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7425344" y="5995790"/>
            <a:ext cx="102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view</a:t>
            </a:r>
            <a:endParaRPr lang="en-PK" b="1" dirty="0"/>
          </a:p>
        </p:txBody>
      </p:sp>
      <p:sp>
        <p:nvSpPr>
          <p:cNvPr id="15" name="Content Placeholder 1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Consider an example</a:t>
            </a:r>
          </a:p>
          <a:p>
            <a:pPr lvl="1"/>
            <a:r>
              <a:rPr lang="en-US" dirty="0"/>
              <a:t>With two layers</a:t>
            </a:r>
          </a:p>
          <a:p>
            <a:pPr lvl="1"/>
            <a:r>
              <a:rPr lang="en-US" dirty="0"/>
              <a:t>As shown in figure</a:t>
            </a:r>
          </a:p>
          <a:p>
            <a:r>
              <a:rPr lang="en-US" dirty="0"/>
              <a:t>Metal 1 and Substrate</a:t>
            </a:r>
          </a:p>
          <a:p>
            <a:pPr lvl="1"/>
            <a:r>
              <a:rPr lang="en-US" dirty="0"/>
              <a:t>Is electrically isolated by insulator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35827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/>
          <p:cNvSpPr>
            <a:spLocks noGrp="1"/>
          </p:cNvSpPr>
          <p:nvPr>
            <p:ph idx="1"/>
          </p:nvPr>
        </p:nvSpPr>
        <p:spPr>
          <a:xfrm>
            <a:off x="822959" y="1845733"/>
            <a:ext cx="7543801" cy="4282111"/>
          </a:xfrm>
        </p:spPr>
        <p:txBody>
          <a:bodyPr>
            <a:normAutofit/>
          </a:bodyPr>
          <a:lstStyle/>
          <a:p>
            <a:r>
              <a:rPr lang="en-US" dirty="0"/>
              <a:t>The metal 1 layer is filled/coated</a:t>
            </a:r>
          </a:p>
          <a:p>
            <a:pPr lvl="1"/>
            <a:r>
              <a:rPr lang="en-US" dirty="0"/>
              <a:t>with insulator</a:t>
            </a:r>
          </a:p>
          <a:p>
            <a:r>
              <a:rPr lang="en-US" dirty="0"/>
              <a:t>Then it is subjected to CMP</a:t>
            </a:r>
          </a:p>
          <a:p>
            <a:pPr lvl="1"/>
            <a:r>
              <a:rPr lang="en-US" dirty="0"/>
              <a:t>Chemical Mechanical Planarization</a:t>
            </a:r>
          </a:p>
          <a:p>
            <a:pPr lvl="1"/>
            <a:r>
              <a:rPr lang="en-US" dirty="0"/>
              <a:t>In which the surface is etched and sanded</a:t>
            </a:r>
          </a:p>
          <a:p>
            <a:pPr lvl="1"/>
            <a:r>
              <a:rPr lang="en-US" dirty="0"/>
              <a:t>To flat the surface for next layer</a:t>
            </a:r>
          </a:p>
          <a:p>
            <a:r>
              <a:rPr lang="en-US" dirty="0"/>
              <a:t>Next, the surface is coated with</a:t>
            </a:r>
          </a:p>
          <a:p>
            <a:pPr lvl="1"/>
            <a:r>
              <a:rPr lang="en-US" dirty="0"/>
              <a:t>Metal 2 layer,</a:t>
            </a:r>
          </a:p>
          <a:p>
            <a:pPr lvl="1"/>
            <a:r>
              <a:rPr lang="en-US" dirty="0"/>
              <a:t>As shown in figure</a:t>
            </a:r>
          </a:p>
          <a:p>
            <a:r>
              <a:rPr lang="en-US" dirty="0"/>
              <a:t>Side view shows, order of stacking</a:t>
            </a:r>
          </a:p>
          <a:p>
            <a:r>
              <a:rPr lang="en-US" dirty="0"/>
              <a:t>Top view shows, pattern of each layer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Integrated Circuit Layers</a:t>
            </a:r>
            <a:br>
              <a:rPr lang="en-US" dirty="0"/>
            </a:br>
            <a:r>
              <a:rPr lang="en-US" dirty="0"/>
              <a:t>Adding more layers</a:t>
            </a:r>
            <a:endParaRPr lang="en-PK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5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281672" y="2367873"/>
            <a:ext cx="92134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Insulator</a:t>
            </a:r>
            <a:endParaRPr lang="en-PK" sz="1600" dirty="0"/>
          </a:p>
        </p:txBody>
      </p:sp>
      <p:sp>
        <p:nvSpPr>
          <p:cNvPr id="11" name="TextBox 10"/>
          <p:cNvSpPr txBox="1"/>
          <p:nvPr/>
        </p:nvSpPr>
        <p:spPr>
          <a:xfrm>
            <a:off x="5319483" y="2839435"/>
            <a:ext cx="97289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Substrate</a:t>
            </a:r>
            <a:endParaRPr lang="en-PK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5331205" y="2143362"/>
            <a:ext cx="822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Metal 1</a:t>
            </a:r>
            <a:endParaRPr lang="en-PK" sz="1600" dirty="0"/>
          </a:p>
        </p:txBody>
      </p:sp>
      <p:sp>
        <p:nvSpPr>
          <p:cNvPr id="14" name="TextBox 13"/>
          <p:cNvSpPr txBox="1"/>
          <p:nvPr/>
        </p:nvSpPr>
        <p:spPr>
          <a:xfrm>
            <a:off x="8114807" y="4474992"/>
            <a:ext cx="1029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Top view</a:t>
            </a:r>
            <a:endParaRPr lang="en-PK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42" y="1973325"/>
            <a:ext cx="1645564" cy="1386563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7034" y="4042080"/>
            <a:ext cx="1645564" cy="123515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324261" y="1910189"/>
            <a:ext cx="822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Metal 2</a:t>
            </a:r>
            <a:endParaRPr lang="en-PK" sz="1600" dirty="0"/>
          </a:p>
        </p:txBody>
      </p:sp>
      <p:sp>
        <p:nvSpPr>
          <p:cNvPr id="19" name="TextBox 18"/>
          <p:cNvSpPr txBox="1"/>
          <p:nvPr/>
        </p:nvSpPr>
        <p:spPr>
          <a:xfrm>
            <a:off x="8080424" y="2529274"/>
            <a:ext cx="1092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Side view</a:t>
            </a:r>
            <a:endParaRPr lang="en-PK" b="1" dirty="0"/>
          </a:p>
        </p:txBody>
      </p:sp>
    </p:spTree>
    <p:extLst>
      <p:ext uri="{BB962C8B-B14F-4D97-AF65-F5344CB8AC3E}">
        <p14:creationId xmlns:p14="http://schemas.microsoft.com/office/powerpoint/2010/main" val="219507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 Layers – Interconnect Resistance &amp; Capacitance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Logic gates or transistors send/receive electronic signal in an IC</a:t>
                </a:r>
              </a:p>
              <a:p>
                <a:pPr lvl="1"/>
                <a:r>
                  <a:rPr lang="en-US" dirty="0"/>
                  <a:t>Using patterned metal lines acting as wires, called interconnects</a:t>
                </a:r>
              </a:p>
              <a:p>
                <a:r>
                  <a:rPr lang="en-US" dirty="0"/>
                  <a:t>The level of electric current flow (signal transfer speed) depends upon</a:t>
                </a:r>
              </a:p>
              <a:p>
                <a:pPr lvl="1"/>
                <a:r>
                  <a:rPr lang="en-US" dirty="0"/>
                  <a:t>Physical characteristics of the material and dimensions</a:t>
                </a:r>
              </a:p>
              <a:p>
                <a:r>
                  <a:rPr lang="en-US" dirty="0"/>
                  <a:t>Consider a voltage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applied to a patterned metal line</a:t>
                </a:r>
              </a:p>
              <a:p>
                <a:pPr lvl="1"/>
                <a:r>
                  <a:rPr lang="en-US" dirty="0"/>
                  <a:t>Causing current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</m:oMath>
                </a14:m>
                <a:r>
                  <a:rPr lang="en-US" dirty="0"/>
                  <a:t> to flow, which depends on line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is classified as parasitic resistance, because it is undesired</a:t>
                </a:r>
              </a:p>
              <a:p>
                <a:pPr lvl="1"/>
                <a:r>
                  <a:rPr lang="en-US" dirty="0"/>
                  <a:t>And should be kept minimum</a:t>
                </a:r>
              </a:p>
              <a:p>
                <a:pPr lvl="1"/>
                <a:endParaRPr lang="en-P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8" t="-16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399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Resistance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1040341"/>
              </a:xfrm>
            </p:spPr>
            <p:txBody>
              <a:bodyPr/>
              <a:lstStyle/>
              <a:p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for a given line can be calculated</a:t>
                </a:r>
              </a:p>
              <a:p>
                <a:pPr lvl="1"/>
                <a:r>
                  <a:rPr lang="en-US" dirty="0"/>
                  <a:t>Using geometry, as shown in figure</a:t>
                </a:r>
              </a:p>
              <a:p>
                <a:pPr lvl="1"/>
                <a:r>
                  <a:rPr lang="en-US" dirty="0"/>
                  <a:t>The length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lang="en-US" dirty="0"/>
                  <a:t> and cross-sectional area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𝑤𝑡</m:t>
                    </m:r>
                  </m:oMath>
                </a14:m>
                <a:endParaRPr lang="en-US" dirty="0"/>
              </a:p>
              <a:p>
                <a:pPr lvl="1"/>
                <a:endParaRPr lang="en-P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1040341"/>
              </a:xfrm>
              <a:blipFill>
                <a:blip r:embed="rId2"/>
                <a:stretch>
                  <a:fillRect l="-808" t="-6471" b="-470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7</a:t>
            </a:fld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5548185" y="3289110"/>
            <a:ext cx="3469918" cy="3010348"/>
            <a:chOff x="5548185" y="3289110"/>
            <a:chExt cx="3469918" cy="301034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185" y="3289110"/>
              <a:ext cx="3469918" cy="29886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5652960" y="3562350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960" y="3562350"/>
                  <a:ext cx="3345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7425344" y="4229415"/>
                  <a:ext cx="3170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344" y="4229415"/>
                  <a:ext cx="31701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8471282" y="5930126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282" y="5930126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6222579" y="5115066"/>
                  <a:ext cx="136127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Conductivity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579" y="5115066"/>
                  <a:ext cx="1361270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4036" t="-4717" r="-4036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ontent Placeholder 2"/>
              <p:cNvSpPr txBox="1">
                <a:spLocks/>
              </p:cNvSpPr>
              <p:nvPr/>
            </p:nvSpPr>
            <p:spPr>
              <a:xfrm>
                <a:off x="822960" y="2987556"/>
                <a:ext cx="4615816" cy="2942570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The conductivity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 (units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Ω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cm</m:t>
                            </m:r>
                          </m:e>
                        </m:d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Characteristics of the material</a:t>
                </a:r>
              </a:p>
              <a:p>
                <a:pPr lvl="1"/>
                <a:r>
                  <a:rPr lang="en-US" dirty="0"/>
                  <a:t>Represents the ease for current flow</a:t>
                </a:r>
              </a:p>
              <a:p>
                <a:pPr lvl="1"/>
                <a:r>
                  <a:rPr lang="en-US" dirty="0"/>
                  <a:t>Reciprocal of resistivity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PK" dirty="0"/>
              </a:p>
            </p:txBody>
          </p:sp>
        </mc:Choice>
        <mc:Fallback xmlns="">
          <p:sp>
            <p:nvSpPr>
              <p:cNvPr id="12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60" y="2987556"/>
                <a:ext cx="4615816" cy="2942570"/>
              </a:xfrm>
              <a:prstGeom prst="rect">
                <a:avLst/>
              </a:prstGeom>
              <a:blipFill>
                <a:blip r:embed="rId8"/>
                <a:stretch>
                  <a:fillRect l="-1321" t="-2070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31329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Resistance cont.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097866"/>
              </a:xfrm>
            </p:spPr>
            <p:txBody>
              <a:bodyPr/>
              <a:lstStyle/>
              <a:p>
                <a:r>
                  <a:rPr lang="en-US" dirty="0"/>
                  <a:t>Thickness “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” and conductivity “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𝜎</m:t>
                    </m:r>
                  </m:oMath>
                </a14:m>
                <a:r>
                  <a:rPr lang="en-US" dirty="0"/>
                  <a:t>”</a:t>
                </a:r>
              </a:p>
              <a:p>
                <a:pPr lvl="1"/>
                <a:r>
                  <a:rPr lang="en-US" dirty="0"/>
                  <a:t>Is specified by manufacturing process</a:t>
                </a:r>
              </a:p>
              <a:p>
                <a:pPr lvl="1"/>
                <a:r>
                  <a:rPr lang="en-US" dirty="0"/>
                  <a:t>So regrouping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equation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The first term is known as sheet resistance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Please note that a square (in top view)</a:t>
                </a:r>
              </a:p>
              <a:p>
                <a:pPr lvl="1"/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Will have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den>
                        </m:f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P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097866"/>
              </a:xfrm>
              <a:blipFill>
                <a:blip r:embed="rId2"/>
                <a:stretch>
                  <a:fillRect l="-808" t="-163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8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5548185" y="3289110"/>
            <a:ext cx="3469918" cy="3010348"/>
            <a:chOff x="5548185" y="3289110"/>
            <a:chExt cx="3469918" cy="3010348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48185" y="3289110"/>
              <a:ext cx="3469918" cy="2988607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5652960" y="3562350"/>
                  <a:ext cx="33457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52960" y="3562350"/>
                  <a:ext cx="334579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7425344" y="4229415"/>
                  <a:ext cx="31701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5344" y="4229415"/>
                  <a:ext cx="317010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8471282" y="5930126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71282" y="5930126"/>
                  <a:ext cx="41421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222579" y="5115066"/>
                  <a:ext cx="1361270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0" dirty="0"/>
                    <a:t>Conductivity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22579" y="5115066"/>
                  <a:ext cx="1361270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4036" t="-4717" r="-4036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21147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Resistance cont.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1477550"/>
              </a:xfrm>
            </p:spPr>
            <p:txBody>
              <a:bodyPr/>
              <a:lstStyle/>
              <a:p>
                <a:r>
                  <a:rPr lang="en-US" dirty="0"/>
                  <a:t>In order to find resistance of a line, it can be divided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squares of</a:t>
                </a:r>
              </a:p>
              <a:p>
                <a:pPr lvl="1"/>
                <a:r>
                  <a:rPr lang="en-US" dirty="0"/>
                  <a:t>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each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		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not restricted to integer values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1477550"/>
              </a:xfrm>
              <a:blipFill>
                <a:blip r:embed="rId2"/>
                <a:stretch>
                  <a:fillRect l="-808" t="-4545" b="-2893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9</a:t>
            </a:fld>
            <a:endParaRPr lang="en-US"/>
          </a:p>
        </p:txBody>
      </p:sp>
      <p:grpSp>
        <p:nvGrpSpPr>
          <p:cNvPr id="24" name="Group 23"/>
          <p:cNvGrpSpPr/>
          <p:nvPr/>
        </p:nvGrpSpPr>
        <p:grpSpPr>
          <a:xfrm>
            <a:off x="3429347" y="3203436"/>
            <a:ext cx="5516410" cy="1524884"/>
            <a:chOff x="1814985" y="4241601"/>
            <a:chExt cx="5516410" cy="1524884"/>
          </a:xfrm>
        </p:grpSpPr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14985" y="4556595"/>
              <a:ext cx="5386824" cy="98812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1903810" y="4923142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3810" y="4923142"/>
                  <a:ext cx="41421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521059" y="4556595"/>
                  <a:ext cx="326687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21059" y="4556595"/>
                  <a:ext cx="326687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/>
            <p:cNvSpPr txBox="1"/>
            <p:nvPr/>
          </p:nvSpPr>
          <p:spPr>
            <a:xfrm>
              <a:off x="2111038" y="424937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en-PK" dirty="0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026503" y="4241601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en-PK" dirty="0"/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V="1">
              <a:off x="2415930" y="5193534"/>
              <a:ext cx="0" cy="27699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2175055" y="5397153"/>
                  <a:ext cx="288816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1 square (with resistance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en-US" dirty="0"/>
                    <a:t>)</a:t>
                  </a:r>
                  <a:endParaRPr lang="en-PK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5055" y="5397153"/>
                  <a:ext cx="2888163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1903" t="-8197" r="-1057" b="-24590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4" name="Group 33"/>
          <p:cNvGrpSpPr/>
          <p:nvPr/>
        </p:nvGrpSpPr>
        <p:grpSpPr>
          <a:xfrm>
            <a:off x="3552039" y="4975918"/>
            <a:ext cx="5494209" cy="1339522"/>
            <a:chOff x="1037439" y="4734618"/>
            <a:chExt cx="5494209" cy="1339522"/>
          </a:xfrm>
        </p:grpSpPr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4010" y="4735825"/>
              <a:ext cx="4973588" cy="749062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/>
                <p:cNvSpPr txBox="1"/>
                <p:nvPr/>
              </p:nvSpPr>
              <p:spPr>
                <a:xfrm>
                  <a:off x="2040944" y="5520142"/>
                  <a:ext cx="279839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All these resistances are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27" name="TextBox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0944" y="5520142"/>
                  <a:ext cx="2798395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743" t="-8197" b="-24590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/>
                <p:cNvSpPr txBox="1"/>
                <p:nvPr/>
              </p:nvSpPr>
              <p:spPr>
                <a:xfrm>
                  <a:off x="4981052" y="5704808"/>
                  <a:ext cx="147054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Fraction of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28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1052" y="5704808"/>
                  <a:ext cx="1470548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3734" t="-8197" b="-24590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/>
            <p:cNvCxnSpPr/>
            <p:nvPr/>
          </p:nvCxnSpPr>
          <p:spPr>
            <a:xfrm flipV="1">
              <a:off x="6162350" y="5427818"/>
              <a:ext cx="0" cy="33227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1037439" y="4734618"/>
              <a:ext cx="3113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X</a:t>
              </a:r>
              <a:endParaRPr lang="en-PK" dirty="0"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6226756" y="4741024"/>
              <a:ext cx="304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Y</a:t>
              </a:r>
              <a:endParaRPr lang="en-PK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Content Placeholder 2"/>
              <p:cNvSpPr txBox="1">
                <a:spLocks/>
              </p:cNvSpPr>
              <p:nvPr/>
            </p:nvSpPr>
            <p:spPr>
              <a:xfrm>
                <a:off x="822959" y="3332274"/>
                <a:ext cx="2918084" cy="2865326"/>
              </a:xfrm>
              <a:prstGeom prst="rect">
                <a:avLst/>
              </a:prstGeom>
            </p:spPr>
            <p:txBody>
              <a:bodyPr vert="horz" lIns="0" tIns="45720" rIns="0" bIns="45720" rtlCol="0">
                <a:normAutofit/>
              </a:bodyPr>
              <a:lstStyle>
                <a:lvl1pPr marL="91440" indent="-91440" algn="l" defTabSz="914400" rtl="0" eaLnBrk="1" latinLnBrk="0" hangingPunct="1">
                  <a:lnSpc>
                    <a:spcPct val="90000"/>
                  </a:lnSpc>
                  <a:spcBef>
                    <a:spcPts val="1200"/>
                  </a:spcBef>
                  <a:spcAft>
                    <a:spcPts val="200"/>
                  </a:spcAft>
                  <a:buClr>
                    <a:schemeClr val="accent1"/>
                  </a:buClr>
                  <a:buSzPct val="100000"/>
                  <a:buFont typeface="Calibri" panose="020F0502020204030204" pitchFamily="34" charset="0"/>
                  <a:buChar char=" "/>
                  <a:defRPr sz="20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1pPr>
                <a:lvl2pPr marL="38404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8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2pPr>
                <a:lvl3pPr marL="56692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3pPr>
                <a:lvl4pPr marL="74980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4pPr>
                <a:lvl5pPr marL="932688" indent="-18288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5pPr>
                <a:lvl6pPr marL="11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6pPr>
                <a:lvl7pPr marL="13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7pPr>
                <a:lvl8pPr marL="15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8pPr>
                <a:lvl9pPr marL="1700000" indent="-228600" algn="l" defTabSz="914400" rtl="0" eaLnBrk="1" latinLnBrk="0" hangingPunct="1">
                  <a:lnSpc>
                    <a:spcPct val="90000"/>
                  </a:lnSpc>
                  <a:spcBef>
                    <a:spcPts val="200"/>
                  </a:spcBef>
                  <a:spcAft>
                    <a:spcPts val="400"/>
                  </a:spcAft>
                  <a:buClr>
                    <a:schemeClr val="accent1"/>
                  </a:buClr>
                  <a:buFont typeface="Calibri" pitchFamily="34" charset="0"/>
                  <a:buChar char="◦"/>
                  <a:defRPr sz="1400" kern="12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Line resistance depends on</a:t>
                </a:r>
              </a:p>
              <a:p>
                <a:pPr lvl="1"/>
                <a:r>
                  <a:rPr lang="en-US" dirty="0"/>
                  <a:t>Ratio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The speed of signal transmission</a:t>
                </a:r>
              </a:p>
              <a:p>
                <a:pPr lvl="1"/>
                <a:r>
                  <a:rPr lang="en-US" dirty="0"/>
                  <a:t>Depends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Small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Allows high current flow</a:t>
                </a:r>
              </a:p>
              <a:p>
                <a:pPr lvl="1"/>
                <a:r>
                  <a:rPr lang="en-US" dirty="0"/>
                  <a:t>Hence high-speed</a:t>
                </a:r>
              </a:p>
            </p:txBody>
          </p:sp>
        </mc:Choice>
        <mc:Fallback xmlns="">
          <p:sp>
            <p:nvSpPr>
              <p:cNvPr id="35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959" y="3332274"/>
                <a:ext cx="2918084" cy="2865326"/>
              </a:xfrm>
              <a:prstGeom prst="rect">
                <a:avLst/>
              </a:prstGeom>
              <a:blipFill>
                <a:blip r:embed="rId10"/>
                <a:stretch>
                  <a:fillRect l="-2088" t="-2340" r="-3967" b="-1489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4700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Capacitance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Interconnect lines also demonstrate the property of capacitance</a:t>
                </a:r>
              </a:p>
              <a:p>
                <a:pPr lvl="1"/>
                <a:r>
                  <a:rPr lang="en-US" dirty="0"/>
                  <a:t>Which is charge storage capacity</a:t>
                </a:r>
              </a:p>
              <a:p>
                <a:pPr lvl="1"/>
                <a:r>
                  <a:rPr lang="en-US" dirty="0"/>
                  <a:t>Hence can be modelled as capacitor</a:t>
                </a:r>
              </a:p>
              <a:p>
                <a:r>
                  <a:rPr lang="en-US" dirty="0"/>
                  <a:t>The charge stored due to steady state voltage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𝐶𝑉</m:t>
                    </m:r>
                  </m:oMath>
                </a14:m>
                <a:r>
                  <a:rPr lang="en-US" dirty="0"/>
                  <a:t>	(where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is capacitance of the interconnects in this case)</a:t>
                </a:r>
              </a:p>
              <a:p>
                <a:r>
                  <a:rPr lang="en-US" dirty="0"/>
                  <a:t>Capacitance resists sudden change in voltage</a:t>
                </a:r>
              </a:p>
              <a:p>
                <a:pPr lvl="1"/>
                <a:r>
                  <a:rPr lang="en-US" dirty="0"/>
                  <a:t>restricts maximum operating frequency, let’s see how</a:t>
                </a:r>
              </a:p>
              <a:p>
                <a:r>
                  <a:rPr lang="en-US" dirty="0"/>
                  <a:t>Capacitance exists between two conductors</a:t>
                </a:r>
              </a:p>
              <a:p>
                <a:pPr lvl="1"/>
                <a:r>
                  <a:rPr lang="en-US" dirty="0"/>
                  <a:t>Which are electrically separated</a:t>
                </a:r>
              </a:p>
              <a:p>
                <a:pPr lvl="1"/>
                <a:r>
                  <a:rPr lang="en-US" dirty="0"/>
                  <a:t>Like an interconnect separated from substrate, by insulating silicon dioxide</a:t>
                </a:r>
              </a:p>
              <a:p>
                <a:pPr lvl="2"/>
                <a:r>
                  <a:rPr lang="en-US" dirty="0"/>
                  <a:t>The capacitance depends upon geometry of the line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08" t="-1667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66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Capacitance cont.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5558783" cy="40233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capacitance of the line shown in figure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𝑜𝑥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𝑤𝑙</m:t>
                        </m:r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𝑜𝑥</m:t>
                            </m:r>
                          </m:sub>
                        </m:sSub>
                      </m:den>
                    </m:f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</m:oMath>
                </a14:m>
                <a:r>
                  <a:rPr lang="en-US" dirty="0"/>
                  <a:t> is permittivity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material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𝑜𝑥</m:t>
                        </m:r>
                      </m:sub>
                    </m:sSub>
                  </m:oMath>
                </a14:m>
                <a:r>
                  <a:rPr lang="en-US" dirty="0"/>
                  <a:t> is thickness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Si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layer</a:t>
                </a:r>
              </a:p>
              <a:p>
                <a:r>
                  <a:rPr lang="en-US" dirty="0"/>
                  <a:t>The interconnect piece with capacitance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just a portion of a long interconnect</a:t>
                </a:r>
              </a:p>
              <a:p>
                <a:pPr lvl="1"/>
                <a:r>
                  <a:rPr lang="en-US" dirty="0"/>
                  <a:t>With resistance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from source to this point</a:t>
                </a:r>
              </a:p>
              <a:p>
                <a:r>
                  <a:rPr lang="en-US" dirty="0"/>
                  <a:t>So when a voltage is applied a source</a:t>
                </a:r>
              </a:p>
              <a:p>
                <a:pPr lvl="1"/>
                <a:r>
                  <a:rPr lang="en-US" dirty="0"/>
                  <a:t>It slowly changes at the end, defined by time constant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This time constant limits speed of the network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5558783" cy="4023360"/>
              </a:xfrm>
              <a:blipFill>
                <a:blip r:embed="rId2"/>
                <a:stretch>
                  <a:fillRect l="-1096" t="-1667" b="-106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989924" y="4088506"/>
                <a:ext cx="3170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en-PK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924" y="4088506"/>
                <a:ext cx="31701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5444720" y="1666123"/>
            <a:ext cx="3767704" cy="2998878"/>
            <a:chOff x="5220691" y="2991226"/>
            <a:chExt cx="4198146" cy="31826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483540" y="2991226"/>
                  <a:ext cx="41421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83540" y="2991226"/>
                  <a:ext cx="414216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220691" y="3213992"/>
              <a:ext cx="3675670" cy="295988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8862146" y="5104301"/>
                  <a:ext cx="55669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𝑜𝑥</m:t>
                            </m:r>
                          </m:sub>
                        </m:sSub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62146" y="5104301"/>
                  <a:ext cx="556691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754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3432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IC Layers</a:t>
            </a:r>
            <a:br>
              <a:rPr lang="en-US" dirty="0"/>
            </a:br>
            <a:r>
              <a:rPr lang="en-US" dirty="0"/>
              <a:t>Interconnect Time Constant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60" y="1845734"/>
                <a:ext cx="3955212" cy="435928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parasitic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Cause signal delay</a:t>
                </a:r>
              </a:p>
              <a:p>
                <a:pPr lvl="1"/>
                <a:r>
                  <a:rPr lang="en-US" dirty="0"/>
                  <a:t>From source to end (next gate)</a:t>
                </a:r>
              </a:p>
              <a:p>
                <a:r>
                  <a:rPr lang="en-US" dirty="0"/>
                  <a:t>When the input signal changes</a:t>
                </a:r>
              </a:p>
              <a:p>
                <a:pPr lvl="1"/>
                <a:r>
                  <a:rPr lang="en-US" dirty="0"/>
                  <a:t>From 0 to 1</a:t>
                </a:r>
              </a:p>
              <a:p>
                <a:pPr lvl="1"/>
                <a:r>
                  <a:rPr lang="en-US" dirty="0"/>
                  <a:t>It slowly reflect at the end of the interconnect</a:t>
                </a:r>
              </a:p>
              <a:p>
                <a:r>
                  <a:rPr lang="en-US" dirty="0"/>
                  <a:t>In order to limit the delays</a:t>
                </a:r>
              </a:p>
              <a:p>
                <a:pPr lvl="1"/>
                <a:r>
                  <a:rPr lang="en-US" dirty="0"/>
                  <a:t>The RC time constant must be small</a:t>
                </a:r>
              </a:p>
              <a:p>
                <a:pPr lvl="1"/>
                <a:r>
                  <a:rPr lang="en-US" dirty="0"/>
                  <a:t>Both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𝑙𝑖𝑛𝑒</m:t>
                        </m:r>
                      </m:sub>
                    </m:sSub>
                  </m:oMath>
                </a14:m>
                <a:r>
                  <a:rPr lang="en-US" dirty="0"/>
                  <a:t> must be small</a:t>
                </a:r>
              </a:p>
              <a:p>
                <a:r>
                  <a:rPr lang="en-US" i="1" dirty="0"/>
                  <a:t>** The actual RC model is complex than the one we used here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60" y="1845734"/>
                <a:ext cx="3955212" cy="4359286"/>
              </a:xfrm>
              <a:blipFill>
                <a:blip r:embed="rId2"/>
                <a:stretch>
                  <a:fillRect l="-1541" t="-153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12</a:t>
            </a:fld>
            <a:endParaRPr lang="en-US"/>
          </a:p>
        </p:txBody>
      </p:sp>
      <p:grpSp>
        <p:nvGrpSpPr>
          <p:cNvPr id="142" name="Group 141"/>
          <p:cNvGrpSpPr/>
          <p:nvPr/>
        </p:nvGrpSpPr>
        <p:grpSpPr>
          <a:xfrm>
            <a:off x="5301591" y="1752363"/>
            <a:ext cx="3186270" cy="1868990"/>
            <a:chOff x="5301591" y="1752363"/>
            <a:chExt cx="3186270" cy="1868990"/>
          </a:xfrm>
        </p:grpSpPr>
        <p:pic>
          <p:nvPicPr>
            <p:cNvPr id="133" name="Picture 132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21553" y="1992860"/>
              <a:ext cx="2295673" cy="162849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9" name="Rectangle 97"/>
                <p:cNvSpPr>
                  <a:spLocks noChangeArrowheads="1"/>
                </p:cNvSpPr>
                <p:nvPr/>
              </p:nvSpPr>
              <p:spPr bwMode="auto">
                <a:xfrm>
                  <a:off x="5301591" y="2574843"/>
                  <a:ext cx="523461" cy="250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PK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29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301591" y="2574843"/>
                  <a:ext cx="523461" cy="250317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97"/>
                <p:cNvSpPr>
                  <a:spLocks noChangeArrowheads="1"/>
                </p:cNvSpPr>
                <p:nvPr/>
              </p:nvSpPr>
              <p:spPr bwMode="auto">
                <a:xfrm>
                  <a:off x="7960697" y="2571819"/>
                  <a:ext cx="527164" cy="250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PK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0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960697" y="2571819"/>
                  <a:ext cx="527164" cy="25031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97"/>
                <p:cNvSpPr>
                  <a:spLocks noChangeArrowheads="1"/>
                </p:cNvSpPr>
                <p:nvPr/>
              </p:nvSpPr>
              <p:spPr bwMode="auto">
                <a:xfrm>
                  <a:off x="6709476" y="1752363"/>
                  <a:ext cx="420307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𝑙𝑖𝑛𝑒</m:t>
                            </m:r>
                          </m:sub>
                        </m:sSub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1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709476" y="1752363"/>
                  <a:ext cx="420307" cy="215444"/>
                </a:xfrm>
                <a:prstGeom prst="rect">
                  <a:avLst/>
                </a:prstGeom>
                <a:blipFill>
                  <a:blip r:embed="rId6"/>
                  <a:stretch>
                    <a:fillRect l="-8696" b="-16667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2" name="Rectangle 97"/>
                <p:cNvSpPr>
                  <a:spLocks noChangeArrowheads="1"/>
                </p:cNvSpPr>
                <p:nvPr/>
              </p:nvSpPr>
              <p:spPr bwMode="auto">
                <a:xfrm>
                  <a:off x="7129783" y="2590666"/>
                  <a:ext cx="420307" cy="21544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𝑙𝑖𝑛𝑒</m:t>
                            </m:r>
                          </m:sub>
                        </m:sSub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32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29783" y="2590666"/>
                  <a:ext cx="420307" cy="215444"/>
                </a:xfrm>
                <a:prstGeom prst="rect">
                  <a:avLst/>
                </a:prstGeom>
                <a:blipFill>
                  <a:blip r:embed="rId7"/>
                  <a:stretch>
                    <a:fillRect l="-7246" b="-17143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1" name="Group 140"/>
          <p:cNvGrpSpPr/>
          <p:nvPr/>
        </p:nvGrpSpPr>
        <p:grpSpPr>
          <a:xfrm>
            <a:off x="4632960" y="3619500"/>
            <a:ext cx="4367170" cy="2780371"/>
            <a:chOff x="4632960" y="3619500"/>
            <a:chExt cx="4367170" cy="2780371"/>
          </a:xfrm>
        </p:grpSpPr>
        <p:cxnSp>
          <p:nvCxnSpPr>
            <p:cNvPr id="123" name="Straight Arrow Connector 122"/>
            <p:cNvCxnSpPr/>
            <p:nvPr/>
          </p:nvCxnSpPr>
          <p:spPr>
            <a:xfrm flipV="1">
              <a:off x="4989045" y="3619502"/>
              <a:ext cx="0" cy="2354778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Straight Arrow Connector 124"/>
            <p:cNvCxnSpPr/>
            <p:nvPr/>
          </p:nvCxnSpPr>
          <p:spPr>
            <a:xfrm flipV="1">
              <a:off x="4989045" y="5974281"/>
              <a:ext cx="4011085" cy="0"/>
            </a:xfrm>
            <a:prstGeom prst="straightConnector1">
              <a:avLst/>
            </a:prstGeom>
            <a:ln w="19050"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Rectangle 56"/>
                <p:cNvSpPr>
                  <a:spLocks noChangeArrowheads="1"/>
                </p:cNvSpPr>
                <p:nvPr/>
              </p:nvSpPr>
              <p:spPr bwMode="auto">
                <a:xfrm rot="16200000">
                  <a:off x="3603676" y="4648784"/>
                  <a:ext cx="2354780" cy="29621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squar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en-PK" sz="1600" i="0" dirty="0" smtClean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m:rPr>
                            <m:sty m:val="p"/>
                          </m:rPr>
                          <a:rPr kumimoji="0" lang="en-US" altLang="en-PK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262626"/>
                            </a:solidFill>
                            <a:effectLst/>
                            <a:latin typeface="Cambria Math" panose="02040503050406030204" pitchFamily="18" charset="0"/>
                          </a:rPr>
                          <m:t>oltage</m:t>
                        </m:r>
                        <m:r>
                          <a:rPr kumimoji="0" lang="en-US" altLang="en-PK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262626"/>
                            </a:solidFill>
                            <a:effectLst/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m:rPr>
                            <m:sty m:val="p"/>
                          </m:rPr>
                          <a:rPr kumimoji="0" lang="en-US" altLang="en-PK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262626"/>
                            </a:solidFill>
                            <a:effectLst/>
                            <a:latin typeface="Cambria Math" panose="02040503050406030204" pitchFamily="18" charset="0"/>
                          </a:rPr>
                          <m:t>V</m:t>
                        </m:r>
                        <m:r>
                          <a:rPr kumimoji="0" lang="en-US" altLang="en-PK" sz="1600" b="0" i="0" u="none" strike="noStrike" cap="none" normalizeH="0" baseline="0" dirty="0" smtClean="0">
                            <a:ln>
                              <a:noFill/>
                            </a:ln>
                            <a:solidFill>
                              <a:srgbClr val="262626"/>
                            </a:solidFill>
                            <a:effectLst/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en-PK" altLang="en-PK" sz="2800" b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6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 rot="16200000">
                  <a:off x="3603676" y="4648784"/>
                  <a:ext cx="2354780" cy="296211"/>
                </a:xfrm>
                <a:prstGeom prst="rect">
                  <a:avLst/>
                </a:prstGeom>
                <a:blipFill>
                  <a:blip r:embed="rId8"/>
                  <a:stretch>
                    <a:fillRect r="-10204"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7" name="Freeform 66"/>
            <p:cNvSpPr>
              <a:spLocks/>
            </p:cNvSpPr>
            <p:nvPr/>
          </p:nvSpPr>
          <p:spPr bwMode="auto">
            <a:xfrm>
              <a:off x="4989045" y="5974281"/>
              <a:ext cx="264462" cy="0"/>
            </a:xfrm>
            <a:custGeom>
              <a:avLst/>
              <a:gdLst>
                <a:gd name="T0" fmla="*/ 0 w 101"/>
                <a:gd name="T1" fmla="*/ 3 w 101"/>
                <a:gd name="T2" fmla="*/ 5 w 101"/>
                <a:gd name="T3" fmla="*/ 7 w 101"/>
                <a:gd name="T4" fmla="*/ 9 w 101"/>
                <a:gd name="T5" fmla="*/ 11 w 101"/>
                <a:gd name="T6" fmla="*/ 13 w 101"/>
                <a:gd name="T7" fmla="*/ 15 w 101"/>
                <a:gd name="T8" fmla="*/ 17 w 101"/>
                <a:gd name="T9" fmla="*/ 19 w 101"/>
                <a:gd name="T10" fmla="*/ 21 w 101"/>
                <a:gd name="T11" fmla="*/ 23 w 101"/>
                <a:gd name="T12" fmla="*/ 25 w 101"/>
                <a:gd name="T13" fmla="*/ 27 w 101"/>
                <a:gd name="T14" fmla="*/ 29 w 101"/>
                <a:gd name="T15" fmla="*/ 31 w 101"/>
                <a:gd name="T16" fmla="*/ 33 w 101"/>
                <a:gd name="T17" fmla="*/ 36 w 101"/>
                <a:gd name="T18" fmla="*/ 38 w 101"/>
                <a:gd name="T19" fmla="*/ 40 w 101"/>
                <a:gd name="T20" fmla="*/ 42 w 101"/>
                <a:gd name="T21" fmla="*/ 44 w 101"/>
                <a:gd name="T22" fmla="*/ 46 w 101"/>
                <a:gd name="T23" fmla="*/ 48 w 101"/>
                <a:gd name="T24" fmla="*/ 50 w 101"/>
                <a:gd name="T25" fmla="*/ 52 w 101"/>
                <a:gd name="T26" fmla="*/ 54 w 101"/>
                <a:gd name="T27" fmla="*/ 56 w 101"/>
                <a:gd name="T28" fmla="*/ 58 w 101"/>
                <a:gd name="T29" fmla="*/ 60 w 101"/>
                <a:gd name="T30" fmla="*/ 62 w 101"/>
                <a:gd name="T31" fmla="*/ 64 w 101"/>
                <a:gd name="T32" fmla="*/ 66 w 101"/>
                <a:gd name="T33" fmla="*/ 69 w 101"/>
                <a:gd name="T34" fmla="*/ 71 w 101"/>
                <a:gd name="T35" fmla="*/ 73 w 101"/>
                <a:gd name="T36" fmla="*/ 75 w 101"/>
                <a:gd name="T37" fmla="*/ 77 w 101"/>
                <a:gd name="T38" fmla="*/ 79 w 101"/>
                <a:gd name="T39" fmla="*/ 81 w 101"/>
                <a:gd name="T40" fmla="*/ 83 w 101"/>
                <a:gd name="T41" fmla="*/ 85 w 101"/>
                <a:gd name="T42" fmla="*/ 87 w 101"/>
                <a:gd name="T43" fmla="*/ 89 w 101"/>
                <a:gd name="T44" fmla="*/ 91 w 101"/>
                <a:gd name="T45" fmla="*/ 93 w 101"/>
                <a:gd name="T46" fmla="*/ 95 w 101"/>
                <a:gd name="T47" fmla="*/ 97 w 101"/>
                <a:gd name="T48" fmla="*/ 99 w 101"/>
                <a:gd name="T49" fmla="*/ 101 w 1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</a:cxnLst>
              <a:rect l="0" t="0" r="r" b="b"/>
              <a:pathLst>
                <a:path w="101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9" y="0"/>
                  </a:lnTo>
                  <a:lnTo>
                    <a:pt x="71" y="0"/>
                  </a:lnTo>
                  <a:lnTo>
                    <a:pt x="73" y="0"/>
                  </a:lnTo>
                  <a:lnTo>
                    <a:pt x="75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78" name="Freeform 67"/>
            <p:cNvSpPr>
              <a:spLocks/>
            </p:cNvSpPr>
            <p:nvPr/>
          </p:nvSpPr>
          <p:spPr bwMode="auto">
            <a:xfrm>
              <a:off x="5248268" y="5974281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5 w 105"/>
                <a:gd name="T3" fmla="*/ 7 w 105"/>
                <a:gd name="T4" fmla="*/ 9 w 105"/>
                <a:gd name="T5" fmla="*/ 11 w 105"/>
                <a:gd name="T6" fmla="*/ 13 w 105"/>
                <a:gd name="T7" fmla="*/ 15 w 105"/>
                <a:gd name="T8" fmla="*/ 17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2 w 105"/>
                <a:gd name="T21" fmla="*/ 44 w 105"/>
                <a:gd name="T22" fmla="*/ 46 w 105"/>
                <a:gd name="T23" fmla="*/ 48 w 105"/>
                <a:gd name="T24" fmla="*/ 50 w 105"/>
                <a:gd name="T25" fmla="*/ 52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9 w 105"/>
                <a:gd name="T39" fmla="*/ 81 w 105"/>
                <a:gd name="T40" fmla="*/ 83 w 105"/>
                <a:gd name="T41" fmla="*/ 85 w 105"/>
                <a:gd name="T42" fmla="*/ 87 w 105"/>
                <a:gd name="T43" fmla="*/ 89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79" name="Freeform 68"/>
            <p:cNvSpPr>
              <a:spLocks/>
            </p:cNvSpPr>
            <p:nvPr/>
          </p:nvSpPr>
          <p:spPr bwMode="auto">
            <a:xfrm>
              <a:off x="5517966" y="4042949"/>
              <a:ext cx="274935" cy="1931333"/>
            </a:xfrm>
            <a:custGeom>
              <a:avLst/>
              <a:gdLst>
                <a:gd name="T0" fmla="*/ 0 w 105"/>
                <a:gd name="T1" fmla="*/ 715 h 715"/>
                <a:gd name="T2" fmla="*/ 2 w 105"/>
                <a:gd name="T3" fmla="*/ 715 h 715"/>
                <a:gd name="T4" fmla="*/ 4 w 105"/>
                <a:gd name="T5" fmla="*/ 0 h 715"/>
                <a:gd name="T6" fmla="*/ 6 w 105"/>
                <a:gd name="T7" fmla="*/ 0 h 715"/>
                <a:gd name="T8" fmla="*/ 8 w 105"/>
                <a:gd name="T9" fmla="*/ 0 h 715"/>
                <a:gd name="T10" fmla="*/ 10 w 105"/>
                <a:gd name="T11" fmla="*/ 0 h 715"/>
                <a:gd name="T12" fmla="*/ 13 w 105"/>
                <a:gd name="T13" fmla="*/ 0 h 715"/>
                <a:gd name="T14" fmla="*/ 15 w 105"/>
                <a:gd name="T15" fmla="*/ 0 h 715"/>
                <a:gd name="T16" fmla="*/ 17 w 105"/>
                <a:gd name="T17" fmla="*/ 0 h 715"/>
                <a:gd name="T18" fmla="*/ 19 w 105"/>
                <a:gd name="T19" fmla="*/ 0 h 715"/>
                <a:gd name="T20" fmla="*/ 21 w 105"/>
                <a:gd name="T21" fmla="*/ 0 h 715"/>
                <a:gd name="T22" fmla="*/ 23 w 105"/>
                <a:gd name="T23" fmla="*/ 0 h 715"/>
                <a:gd name="T24" fmla="*/ 25 w 105"/>
                <a:gd name="T25" fmla="*/ 0 h 715"/>
                <a:gd name="T26" fmla="*/ 27 w 105"/>
                <a:gd name="T27" fmla="*/ 0 h 715"/>
                <a:gd name="T28" fmla="*/ 29 w 105"/>
                <a:gd name="T29" fmla="*/ 0 h 715"/>
                <a:gd name="T30" fmla="*/ 31 w 105"/>
                <a:gd name="T31" fmla="*/ 0 h 715"/>
                <a:gd name="T32" fmla="*/ 33 w 105"/>
                <a:gd name="T33" fmla="*/ 0 h 715"/>
                <a:gd name="T34" fmla="*/ 35 w 105"/>
                <a:gd name="T35" fmla="*/ 0 h 715"/>
                <a:gd name="T36" fmla="*/ 37 w 105"/>
                <a:gd name="T37" fmla="*/ 0 h 715"/>
                <a:gd name="T38" fmla="*/ 39 w 105"/>
                <a:gd name="T39" fmla="*/ 0 h 715"/>
                <a:gd name="T40" fmla="*/ 41 w 105"/>
                <a:gd name="T41" fmla="*/ 0 h 715"/>
                <a:gd name="T42" fmla="*/ 43 w 105"/>
                <a:gd name="T43" fmla="*/ 0 h 715"/>
                <a:gd name="T44" fmla="*/ 45 w 105"/>
                <a:gd name="T45" fmla="*/ 0 h 715"/>
                <a:gd name="T46" fmla="*/ 47 w 105"/>
                <a:gd name="T47" fmla="*/ 0 h 715"/>
                <a:gd name="T48" fmla="*/ 50 w 105"/>
                <a:gd name="T49" fmla="*/ 0 h 715"/>
                <a:gd name="T50" fmla="*/ 52 w 105"/>
                <a:gd name="T51" fmla="*/ 0 h 715"/>
                <a:gd name="T52" fmla="*/ 54 w 105"/>
                <a:gd name="T53" fmla="*/ 0 h 715"/>
                <a:gd name="T54" fmla="*/ 56 w 105"/>
                <a:gd name="T55" fmla="*/ 0 h 715"/>
                <a:gd name="T56" fmla="*/ 58 w 105"/>
                <a:gd name="T57" fmla="*/ 0 h 715"/>
                <a:gd name="T58" fmla="*/ 60 w 105"/>
                <a:gd name="T59" fmla="*/ 0 h 715"/>
                <a:gd name="T60" fmla="*/ 62 w 105"/>
                <a:gd name="T61" fmla="*/ 0 h 715"/>
                <a:gd name="T62" fmla="*/ 64 w 105"/>
                <a:gd name="T63" fmla="*/ 0 h 715"/>
                <a:gd name="T64" fmla="*/ 66 w 105"/>
                <a:gd name="T65" fmla="*/ 0 h 715"/>
                <a:gd name="T66" fmla="*/ 68 w 105"/>
                <a:gd name="T67" fmla="*/ 0 h 715"/>
                <a:gd name="T68" fmla="*/ 70 w 105"/>
                <a:gd name="T69" fmla="*/ 0 h 715"/>
                <a:gd name="T70" fmla="*/ 72 w 105"/>
                <a:gd name="T71" fmla="*/ 0 h 715"/>
                <a:gd name="T72" fmla="*/ 74 w 105"/>
                <a:gd name="T73" fmla="*/ 0 h 715"/>
                <a:gd name="T74" fmla="*/ 76 w 105"/>
                <a:gd name="T75" fmla="*/ 0 h 715"/>
                <a:gd name="T76" fmla="*/ 78 w 105"/>
                <a:gd name="T77" fmla="*/ 0 h 715"/>
                <a:gd name="T78" fmla="*/ 80 w 105"/>
                <a:gd name="T79" fmla="*/ 0 h 715"/>
                <a:gd name="T80" fmla="*/ 82 w 105"/>
                <a:gd name="T81" fmla="*/ 0 h 715"/>
                <a:gd name="T82" fmla="*/ 84 w 105"/>
                <a:gd name="T83" fmla="*/ 0 h 715"/>
                <a:gd name="T84" fmla="*/ 86 w 105"/>
                <a:gd name="T85" fmla="*/ 0 h 715"/>
                <a:gd name="T86" fmla="*/ 89 w 105"/>
                <a:gd name="T87" fmla="*/ 0 h 715"/>
                <a:gd name="T88" fmla="*/ 91 w 105"/>
                <a:gd name="T89" fmla="*/ 0 h 715"/>
                <a:gd name="T90" fmla="*/ 93 w 105"/>
                <a:gd name="T91" fmla="*/ 0 h 715"/>
                <a:gd name="T92" fmla="*/ 95 w 105"/>
                <a:gd name="T93" fmla="*/ 0 h 715"/>
                <a:gd name="T94" fmla="*/ 97 w 105"/>
                <a:gd name="T95" fmla="*/ 0 h 715"/>
                <a:gd name="T96" fmla="*/ 99 w 105"/>
                <a:gd name="T97" fmla="*/ 0 h 715"/>
                <a:gd name="T98" fmla="*/ 101 w 105"/>
                <a:gd name="T99" fmla="*/ 0 h 715"/>
                <a:gd name="T100" fmla="*/ 103 w 105"/>
                <a:gd name="T101" fmla="*/ 0 h 715"/>
                <a:gd name="T102" fmla="*/ 105 w 105"/>
                <a:gd name="T103" fmla="*/ 0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715">
                  <a:moveTo>
                    <a:pt x="0" y="715"/>
                  </a:moveTo>
                  <a:lnTo>
                    <a:pt x="2" y="715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0" name="Freeform 69"/>
            <p:cNvSpPr>
              <a:spLocks/>
            </p:cNvSpPr>
            <p:nvPr/>
          </p:nvSpPr>
          <p:spPr bwMode="auto">
            <a:xfrm>
              <a:off x="5787665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8 w 105"/>
                <a:gd name="T10" fmla="*/ 20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3 w 105"/>
                <a:gd name="T27" fmla="*/ 55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1" name="Freeform 70"/>
            <p:cNvSpPr>
              <a:spLocks/>
            </p:cNvSpPr>
            <p:nvPr/>
          </p:nvSpPr>
          <p:spPr bwMode="auto">
            <a:xfrm>
              <a:off x="6057362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8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2" name="Freeform 71"/>
            <p:cNvSpPr>
              <a:spLocks/>
            </p:cNvSpPr>
            <p:nvPr/>
          </p:nvSpPr>
          <p:spPr bwMode="auto">
            <a:xfrm>
              <a:off x="6327061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8 w 105"/>
                <a:gd name="T10" fmla="*/ 20 w 105"/>
                <a:gd name="T11" fmla="*/ 22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3 w 105"/>
                <a:gd name="T27" fmla="*/ 55 w 105"/>
                <a:gd name="T28" fmla="*/ 57 w 105"/>
                <a:gd name="T29" fmla="*/ 59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0 w 105"/>
                <a:gd name="T45" fmla="*/ 92 w 105"/>
                <a:gd name="T46" fmla="*/ 94 w 105"/>
                <a:gd name="T47" fmla="*/ 96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7" y="0"/>
                  </a:lnTo>
                  <a:lnTo>
                    <a:pt x="59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6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3" name="Freeform 72"/>
            <p:cNvSpPr>
              <a:spLocks/>
            </p:cNvSpPr>
            <p:nvPr/>
          </p:nvSpPr>
          <p:spPr bwMode="auto">
            <a:xfrm>
              <a:off x="6596757" y="4042949"/>
              <a:ext cx="272316" cy="0"/>
            </a:xfrm>
            <a:custGeom>
              <a:avLst/>
              <a:gdLst>
                <a:gd name="T0" fmla="*/ 0 w 104"/>
                <a:gd name="T1" fmla="*/ 2 w 104"/>
                <a:gd name="T2" fmla="*/ 4 w 104"/>
                <a:gd name="T3" fmla="*/ 6 w 104"/>
                <a:gd name="T4" fmla="*/ 8 w 104"/>
                <a:gd name="T5" fmla="*/ 10 w 104"/>
                <a:gd name="T6" fmla="*/ 12 w 104"/>
                <a:gd name="T7" fmla="*/ 14 w 104"/>
                <a:gd name="T8" fmla="*/ 16 w 104"/>
                <a:gd name="T9" fmla="*/ 18 w 104"/>
                <a:gd name="T10" fmla="*/ 20 w 104"/>
                <a:gd name="T11" fmla="*/ 22 w 104"/>
                <a:gd name="T12" fmla="*/ 24 w 104"/>
                <a:gd name="T13" fmla="*/ 26 w 104"/>
                <a:gd name="T14" fmla="*/ 28 w 104"/>
                <a:gd name="T15" fmla="*/ 30 w 104"/>
                <a:gd name="T16" fmla="*/ 33 w 104"/>
                <a:gd name="T17" fmla="*/ 35 w 104"/>
                <a:gd name="T18" fmla="*/ 37 w 104"/>
                <a:gd name="T19" fmla="*/ 39 w 104"/>
                <a:gd name="T20" fmla="*/ 41 w 104"/>
                <a:gd name="T21" fmla="*/ 43 w 104"/>
                <a:gd name="T22" fmla="*/ 45 w 104"/>
                <a:gd name="T23" fmla="*/ 47 w 104"/>
                <a:gd name="T24" fmla="*/ 49 w 104"/>
                <a:gd name="T25" fmla="*/ 51 w 104"/>
                <a:gd name="T26" fmla="*/ 53 w 104"/>
                <a:gd name="T27" fmla="*/ 55 w 104"/>
                <a:gd name="T28" fmla="*/ 57 w 104"/>
                <a:gd name="T29" fmla="*/ 59 w 104"/>
                <a:gd name="T30" fmla="*/ 61 w 104"/>
                <a:gd name="T31" fmla="*/ 63 w 104"/>
                <a:gd name="T32" fmla="*/ 65 w 104"/>
                <a:gd name="T33" fmla="*/ 67 w 104"/>
                <a:gd name="T34" fmla="*/ 70 w 104"/>
                <a:gd name="T35" fmla="*/ 72 w 104"/>
                <a:gd name="T36" fmla="*/ 74 w 104"/>
                <a:gd name="T37" fmla="*/ 76 w 104"/>
                <a:gd name="T38" fmla="*/ 78 w 104"/>
                <a:gd name="T39" fmla="*/ 80 w 104"/>
                <a:gd name="T40" fmla="*/ 82 w 104"/>
                <a:gd name="T41" fmla="*/ 84 w 104"/>
                <a:gd name="T42" fmla="*/ 86 w 104"/>
                <a:gd name="T43" fmla="*/ 88 w 104"/>
                <a:gd name="T44" fmla="*/ 90 w 104"/>
                <a:gd name="T45" fmla="*/ 92 w 104"/>
                <a:gd name="T46" fmla="*/ 94 w 104"/>
                <a:gd name="T47" fmla="*/ 96 w 104"/>
                <a:gd name="T48" fmla="*/ 98 w 104"/>
                <a:gd name="T49" fmla="*/ 100 w 104"/>
                <a:gd name="T50" fmla="*/ 102 w 104"/>
                <a:gd name="T51" fmla="*/ 104 w 104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4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8" y="0"/>
                  </a:lnTo>
                  <a:lnTo>
                    <a:pt x="30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7" y="0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5" y="0"/>
                  </a:lnTo>
                  <a:lnTo>
                    <a:pt x="67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6" y="0"/>
                  </a:lnTo>
                  <a:lnTo>
                    <a:pt x="98" y="0"/>
                  </a:lnTo>
                  <a:lnTo>
                    <a:pt x="100" y="0"/>
                  </a:lnTo>
                  <a:lnTo>
                    <a:pt x="102" y="0"/>
                  </a:lnTo>
                  <a:lnTo>
                    <a:pt x="104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4" name="Freeform 73"/>
            <p:cNvSpPr>
              <a:spLocks/>
            </p:cNvSpPr>
            <p:nvPr/>
          </p:nvSpPr>
          <p:spPr bwMode="auto">
            <a:xfrm>
              <a:off x="6863837" y="4042949"/>
              <a:ext cx="277553" cy="0"/>
            </a:xfrm>
            <a:custGeom>
              <a:avLst/>
              <a:gdLst>
                <a:gd name="T0" fmla="*/ 0 w 106"/>
                <a:gd name="T1" fmla="*/ 2 w 106"/>
                <a:gd name="T2" fmla="*/ 5 w 106"/>
                <a:gd name="T3" fmla="*/ 7 w 106"/>
                <a:gd name="T4" fmla="*/ 9 w 106"/>
                <a:gd name="T5" fmla="*/ 11 w 106"/>
                <a:gd name="T6" fmla="*/ 13 w 106"/>
                <a:gd name="T7" fmla="*/ 15 w 106"/>
                <a:gd name="T8" fmla="*/ 17 w 106"/>
                <a:gd name="T9" fmla="*/ 19 w 106"/>
                <a:gd name="T10" fmla="*/ 21 w 106"/>
                <a:gd name="T11" fmla="*/ 23 w 106"/>
                <a:gd name="T12" fmla="*/ 25 w 106"/>
                <a:gd name="T13" fmla="*/ 27 w 106"/>
                <a:gd name="T14" fmla="*/ 29 w 106"/>
                <a:gd name="T15" fmla="*/ 31 w 106"/>
                <a:gd name="T16" fmla="*/ 33 w 106"/>
                <a:gd name="T17" fmla="*/ 35 w 106"/>
                <a:gd name="T18" fmla="*/ 37 w 106"/>
                <a:gd name="T19" fmla="*/ 40 w 106"/>
                <a:gd name="T20" fmla="*/ 42 w 106"/>
                <a:gd name="T21" fmla="*/ 44 w 106"/>
                <a:gd name="T22" fmla="*/ 46 w 106"/>
                <a:gd name="T23" fmla="*/ 48 w 106"/>
                <a:gd name="T24" fmla="*/ 50 w 106"/>
                <a:gd name="T25" fmla="*/ 52 w 106"/>
                <a:gd name="T26" fmla="*/ 54 w 106"/>
                <a:gd name="T27" fmla="*/ 56 w 106"/>
                <a:gd name="T28" fmla="*/ 58 w 106"/>
                <a:gd name="T29" fmla="*/ 60 w 106"/>
                <a:gd name="T30" fmla="*/ 62 w 106"/>
                <a:gd name="T31" fmla="*/ 64 w 106"/>
                <a:gd name="T32" fmla="*/ 66 w 106"/>
                <a:gd name="T33" fmla="*/ 68 w 106"/>
                <a:gd name="T34" fmla="*/ 70 w 106"/>
                <a:gd name="T35" fmla="*/ 73 w 106"/>
                <a:gd name="T36" fmla="*/ 75 w 106"/>
                <a:gd name="T37" fmla="*/ 77 w 106"/>
                <a:gd name="T38" fmla="*/ 79 w 106"/>
                <a:gd name="T39" fmla="*/ 81 w 106"/>
                <a:gd name="T40" fmla="*/ 83 w 106"/>
                <a:gd name="T41" fmla="*/ 85 w 106"/>
                <a:gd name="T42" fmla="*/ 87 w 106"/>
                <a:gd name="T43" fmla="*/ 89 w 106"/>
                <a:gd name="T44" fmla="*/ 91 w 106"/>
                <a:gd name="T45" fmla="*/ 93 w 106"/>
                <a:gd name="T46" fmla="*/ 95 w 106"/>
                <a:gd name="T47" fmla="*/ 97 w 106"/>
                <a:gd name="T48" fmla="*/ 99 w 106"/>
                <a:gd name="T49" fmla="*/ 101 w 106"/>
                <a:gd name="T50" fmla="*/ 103 w 106"/>
                <a:gd name="T51" fmla="*/ 106 w 106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6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3" y="0"/>
                  </a:lnTo>
                  <a:lnTo>
                    <a:pt x="75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6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5" name="Freeform 74"/>
            <p:cNvSpPr>
              <a:spLocks/>
            </p:cNvSpPr>
            <p:nvPr/>
          </p:nvSpPr>
          <p:spPr bwMode="auto">
            <a:xfrm>
              <a:off x="7133535" y="4042949"/>
              <a:ext cx="274935" cy="0"/>
            </a:xfrm>
            <a:custGeom>
              <a:avLst/>
              <a:gdLst>
                <a:gd name="T0" fmla="*/ 0 w 105"/>
                <a:gd name="T1" fmla="*/ 3 w 105"/>
                <a:gd name="T2" fmla="*/ 5 w 105"/>
                <a:gd name="T3" fmla="*/ 7 w 105"/>
                <a:gd name="T4" fmla="*/ 9 w 105"/>
                <a:gd name="T5" fmla="*/ 11 w 105"/>
                <a:gd name="T6" fmla="*/ 13 w 105"/>
                <a:gd name="T7" fmla="*/ 15 w 105"/>
                <a:gd name="T8" fmla="*/ 17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6 w 105"/>
                <a:gd name="T18" fmla="*/ 38 w 105"/>
                <a:gd name="T19" fmla="*/ 40 w 105"/>
                <a:gd name="T20" fmla="*/ 42 w 105"/>
                <a:gd name="T21" fmla="*/ 44 w 105"/>
                <a:gd name="T22" fmla="*/ 46 w 105"/>
                <a:gd name="T23" fmla="*/ 48 w 105"/>
                <a:gd name="T24" fmla="*/ 50 w 105"/>
                <a:gd name="T25" fmla="*/ 52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5 w 105"/>
                <a:gd name="T37" fmla="*/ 77 w 105"/>
                <a:gd name="T38" fmla="*/ 79 w 105"/>
                <a:gd name="T39" fmla="*/ 81 w 105"/>
                <a:gd name="T40" fmla="*/ 83 w 105"/>
                <a:gd name="T41" fmla="*/ 85 w 105"/>
                <a:gd name="T42" fmla="*/ 87 w 105"/>
                <a:gd name="T43" fmla="*/ 89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5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6" name="Freeform 75"/>
            <p:cNvSpPr>
              <a:spLocks/>
            </p:cNvSpPr>
            <p:nvPr/>
          </p:nvSpPr>
          <p:spPr bwMode="auto">
            <a:xfrm>
              <a:off x="7403233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9 w 105"/>
                <a:gd name="T5" fmla="*/ 11 w 105"/>
                <a:gd name="T6" fmla="*/ 13 w 105"/>
                <a:gd name="T7" fmla="*/ 15 w 105"/>
                <a:gd name="T8" fmla="*/ 17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6 w 105"/>
                <a:gd name="T23" fmla="*/ 48 w 105"/>
                <a:gd name="T24" fmla="*/ 50 w 105"/>
                <a:gd name="T25" fmla="*/ 52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3 w 105"/>
                <a:gd name="T41" fmla="*/ 85 w 105"/>
                <a:gd name="T42" fmla="*/ 87 w 105"/>
                <a:gd name="T43" fmla="*/ 89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7" name="Freeform 76"/>
            <p:cNvSpPr>
              <a:spLocks/>
            </p:cNvSpPr>
            <p:nvPr/>
          </p:nvSpPr>
          <p:spPr bwMode="auto">
            <a:xfrm>
              <a:off x="7672931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7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8" name="Freeform 77"/>
            <p:cNvSpPr>
              <a:spLocks/>
            </p:cNvSpPr>
            <p:nvPr/>
          </p:nvSpPr>
          <p:spPr bwMode="auto">
            <a:xfrm>
              <a:off x="7942628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8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7 w 105"/>
                <a:gd name="T43" fmla="*/ 89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89" name="Freeform 78"/>
            <p:cNvSpPr>
              <a:spLocks/>
            </p:cNvSpPr>
            <p:nvPr/>
          </p:nvSpPr>
          <p:spPr bwMode="auto">
            <a:xfrm>
              <a:off x="8212326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3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0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0" name="Freeform 79"/>
            <p:cNvSpPr>
              <a:spLocks/>
            </p:cNvSpPr>
            <p:nvPr/>
          </p:nvSpPr>
          <p:spPr bwMode="auto">
            <a:xfrm>
              <a:off x="8482024" y="4042949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4 w 105"/>
                <a:gd name="T3" fmla="*/ 6 w 105"/>
                <a:gd name="T4" fmla="*/ 8 w 105"/>
                <a:gd name="T5" fmla="*/ 10 w 105"/>
                <a:gd name="T6" fmla="*/ 12 w 105"/>
                <a:gd name="T7" fmla="*/ 14 w 105"/>
                <a:gd name="T8" fmla="*/ 16 w 105"/>
                <a:gd name="T9" fmla="*/ 18 w 105"/>
                <a:gd name="T10" fmla="*/ 20 w 105"/>
                <a:gd name="T11" fmla="*/ 22 w 105"/>
                <a:gd name="T12" fmla="*/ 24 w 105"/>
                <a:gd name="T13" fmla="*/ 26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1 w 105"/>
                <a:gd name="T21" fmla="*/ 43 w 105"/>
                <a:gd name="T22" fmla="*/ 45 w 105"/>
                <a:gd name="T23" fmla="*/ 47 w 105"/>
                <a:gd name="T24" fmla="*/ 49 w 105"/>
                <a:gd name="T25" fmla="*/ 51 w 105"/>
                <a:gd name="T26" fmla="*/ 53 w 105"/>
                <a:gd name="T27" fmla="*/ 55 w 105"/>
                <a:gd name="T28" fmla="*/ 57 w 105"/>
                <a:gd name="T29" fmla="*/ 59 w 105"/>
                <a:gd name="T30" fmla="*/ 61 w 105"/>
                <a:gd name="T31" fmla="*/ 63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8 w 105"/>
                <a:gd name="T39" fmla="*/ 80 w 105"/>
                <a:gd name="T40" fmla="*/ 82 w 105"/>
                <a:gd name="T41" fmla="*/ 84 w 105"/>
                <a:gd name="T42" fmla="*/ 86 w 105"/>
                <a:gd name="T43" fmla="*/ 88 w 105"/>
                <a:gd name="T44" fmla="*/ 90 w 105"/>
                <a:gd name="T45" fmla="*/ 92 w 105"/>
                <a:gd name="T46" fmla="*/ 94 w 105"/>
                <a:gd name="T47" fmla="*/ 96 w 105"/>
                <a:gd name="T48" fmla="*/ 98 w 105"/>
                <a:gd name="T49" fmla="*/ 100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4" y="0"/>
                  </a:lnTo>
                  <a:lnTo>
                    <a:pt x="6" y="0"/>
                  </a:lnTo>
                  <a:lnTo>
                    <a:pt x="8" y="0"/>
                  </a:lnTo>
                  <a:lnTo>
                    <a:pt x="10" y="0"/>
                  </a:lnTo>
                  <a:lnTo>
                    <a:pt x="12" y="0"/>
                  </a:lnTo>
                  <a:lnTo>
                    <a:pt x="14" y="0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20" y="0"/>
                  </a:lnTo>
                  <a:lnTo>
                    <a:pt x="22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1" y="0"/>
                  </a:lnTo>
                  <a:lnTo>
                    <a:pt x="43" y="0"/>
                  </a:lnTo>
                  <a:lnTo>
                    <a:pt x="45" y="0"/>
                  </a:lnTo>
                  <a:lnTo>
                    <a:pt x="47" y="0"/>
                  </a:lnTo>
                  <a:lnTo>
                    <a:pt x="49" y="0"/>
                  </a:lnTo>
                  <a:lnTo>
                    <a:pt x="51" y="0"/>
                  </a:lnTo>
                  <a:lnTo>
                    <a:pt x="53" y="0"/>
                  </a:lnTo>
                  <a:lnTo>
                    <a:pt x="55" y="0"/>
                  </a:lnTo>
                  <a:lnTo>
                    <a:pt x="57" y="0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6" y="0"/>
                  </a:lnTo>
                  <a:lnTo>
                    <a:pt x="98" y="0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0072BD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2" name="Freeform 81"/>
            <p:cNvSpPr>
              <a:spLocks/>
            </p:cNvSpPr>
            <p:nvPr/>
          </p:nvSpPr>
          <p:spPr bwMode="auto">
            <a:xfrm>
              <a:off x="4989045" y="5974281"/>
              <a:ext cx="264462" cy="0"/>
            </a:xfrm>
            <a:custGeom>
              <a:avLst/>
              <a:gdLst>
                <a:gd name="T0" fmla="*/ 0 w 101"/>
                <a:gd name="T1" fmla="*/ 3 w 101"/>
                <a:gd name="T2" fmla="*/ 5 w 101"/>
                <a:gd name="T3" fmla="*/ 7 w 101"/>
                <a:gd name="T4" fmla="*/ 9 w 101"/>
                <a:gd name="T5" fmla="*/ 11 w 101"/>
                <a:gd name="T6" fmla="*/ 13 w 101"/>
                <a:gd name="T7" fmla="*/ 15 w 101"/>
                <a:gd name="T8" fmla="*/ 17 w 101"/>
                <a:gd name="T9" fmla="*/ 19 w 101"/>
                <a:gd name="T10" fmla="*/ 21 w 101"/>
                <a:gd name="T11" fmla="*/ 23 w 101"/>
                <a:gd name="T12" fmla="*/ 25 w 101"/>
                <a:gd name="T13" fmla="*/ 27 w 101"/>
                <a:gd name="T14" fmla="*/ 29 w 101"/>
                <a:gd name="T15" fmla="*/ 31 w 101"/>
                <a:gd name="T16" fmla="*/ 33 w 101"/>
                <a:gd name="T17" fmla="*/ 36 w 101"/>
                <a:gd name="T18" fmla="*/ 38 w 101"/>
                <a:gd name="T19" fmla="*/ 40 w 101"/>
                <a:gd name="T20" fmla="*/ 42 w 101"/>
                <a:gd name="T21" fmla="*/ 44 w 101"/>
                <a:gd name="T22" fmla="*/ 46 w 101"/>
                <a:gd name="T23" fmla="*/ 48 w 101"/>
                <a:gd name="T24" fmla="*/ 50 w 101"/>
                <a:gd name="T25" fmla="*/ 52 w 101"/>
                <a:gd name="T26" fmla="*/ 54 w 101"/>
                <a:gd name="T27" fmla="*/ 56 w 101"/>
                <a:gd name="T28" fmla="*/ 58 w 101"/>
                <a:gd name="T29" fmla="*/ 60 w 101"/>
                <a:gd name="T30" fmla="*/ 62 w 101"/>
                <a:gd name="T31" fmla="*/ 64 w 101"/>
                <a:gd name="T32" fmla="*/ 66 w 101"/>
                <a:gd name="T33" fmla="*/ 69 w 101"/>
                <a:gd name="T34" fmla="*/ 71 w 101"/>
                <a:gd name="T35" fmla="*/ 73 w 101"/>
                <a:gd name="T36" fmla="*/ 75 w 101"/>
                <a:gd name="T37" fmla="*/ 77 w 101"/>
                <a:gd name="T38" fmla="*/ 79 w 101"/>
                <a:gd name="T39" fmla="*/ 81 w 101"/>
                <a:gd name="T40" fmla="*/ 83 w 101"/>
                <a:gd name="T41" fmla="*/ 85 w 101"/>
                <a:gd name="T42" fmla="*/ 87 w 101"/>
                <a:gd name="T43" fmla="*/ 89 w 101"/>
                <a:gd name="T44" fmla="*/ 91 w 101"/>
                <a:gd name="T45" fmla="*/ 93 w 101"/>
                <a:gd name="T46" fmla="*/ 95 w 101"/>
                <a:gd name="T47" fmla="*/ 97 w 101"/>
                <a:gd name="T48" fmla="*/ 99 w 101"/>
                <a:gd name="T49" fmla="*/ 101 w 101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</a:cxnLst>
              <a:rect l="0" t="0" r="r" b="b"/>
              <a:pathLst>
                <a:path w="101">
                  <a:moveTo>
                    <a:pt x="0" y="0"/>
                  </a:moveTo>
                  <a:lnTo>
                    <a:pt x="3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6" y="0"/>
                  </a:lnTo>
                  <a:lnTo>
                    <a:pt x="38" y="0"/>
                  </a:lnTo>
                  <a:lnTo>
                    <a:pt x="40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9" y="0"/>
                  </a:lnTo>
                  <a:lnTo>
                    <a:pt x="71" y="0"/>
                  </a:lnTo>
                  <a:lnTo>
                    <a:pt x="73" y="0"/>
                  </a:lnTo>
                  <a:lnTo>
                    <a:pt x="75" y="0"/>
                  </a:lnTo>
                  <a:lnTo>
                    <a:pt x="77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3" name="Freeform 82"/>
            <p:cNvSpPr>
              <a:spLocks/>
            </p:cNvSpPr>
            <p:nvPr/>
          </p:nvSpPr>
          <p:spPr bwMode="auto">
            <a:xfrm>
              <a:off x="5248268" y="5974281"/>
              <a:ext cx="274935" cy="0"/>
            </a:xfrm>
            <a:custGeom>
              <a:avLst/>
              <a:gdLst>
                <a:gd name="T0" fmla="*/ 0 w 105"/>
                <a:gd name="T1" fmla="*/ 2 w 105"/>
                <a:gd name="T2" fmla="*/ 5 w 105"/>
                <a:gd name="T3" fmla="*/ 7 w 105"/>
                <a:gd name="T4" fmla="*/ 9 w 105"/>
                <a:gd name="T5" fmla="*/ 11 w 105"/>
                <a:gd name="T6" fmla="*/ 13 w 105"/>
                <a:gd name="T7" fmla="*/ 15 w 105"/>
                <a:gd name="T8" fmla="*/ 17 w 105"/>
                <a:gd name="T9" fmla="*/ 19 w 105"/>
                <a:gd name="T10" fmla="*/ 21 w 105"/>
                <a:gd name="T11" fmla="*/ 23 w 105"/>
                <a:gd name="T12" fmla="*/ 25 w 105"/>
                <a:gd name="T13" fmla="*/ 27 w 105"/>
                <a:gd name="T14" fmla="*/ 29 w 105"/>
                <a:gd name="T15" fmla="*/ 31 w 105"/>
                <a:gd name="T16" fmla="*/ 33 w 105"/>
                <a:gd name="T17" fmla="*/ 35 w 105"/>
                <a:gd name="T18" fmla="*/ 37 w 105"/>
                <a:gd name="T19" fmla="*/ 39 w 105"/>
                <a:gd name="T20" fmla="*/ 42 w 105"/>
                <a:gd name="T21" fmla="*/ 44 w 105"/>
                <a:gd name="T22" fmla="*/ 46 w 105"/>
                <a:gd name="T23" fmla="*/ 48 w 105"/>
                <a:gd name="T24" fmla="*/ 50 w 105"/>
                <a:gd name="T25" fmla="*/ 52 w 105"/>
                <a:gd name="T26" fmla="*/ 54 w 105"/>
                <a:gd name="T27" fmla="*/ 56 w 105"/>
                <a:gd name="T28" fmla="*/ 58 w 105"/>
                <a:gd name="T29" fmla="*/ 60 w 105"/>
                <a:gd name="T30" fmla="*/ 62 w 105"/>
                <a:gd name="T31" fmla="*/ 64 w 105"/>
                <a:gd name="T32" fmla="*/ 66 w 105"/>
                <a:gd name="T33" fmla="*/ 68 w 105"/>
                <a:gd name="T34" fmla="*/ 70 w 105"/>
                <a:gd name="T35" fmla="*/ 72 w 105"/>
                <a:gd name="T36" fmla="*/ 74 w 105"/>
                <a:gd name="T37" fmla="*/ 76 w 105"/>
                <a:gd name="T38" fmla="*/ 79 w 105"/>
                <a:gd name="T39" fmla="*/ 81 w 105"/>
                <a:gd name="T40" fmla="*/ 83 w 105"/>
                <a:gd name="T41" fmla="*/ 85 w 105"/>
                <a:gd name="T42" fmla="*/ 87 w 105"/>
                <a:gd name="T43" fmla="*/ 89 w 105"/>
                <a:gd name="T44" fmla="*/ 91 w 105"/>
                <a:gd name="T45" fmla="*/ 93 w 105"/>
                <a:gd name="T46" fmla="*/ 95 w 105"/>
                <a:gd name="T47" fmla="*/ 97 w 105"/>
                <a:gd name="T48" fmla="*/ 99 w 105"/>
                <a:gd name="T49" fmla="*/ 101 w 105"/>
                <a:gd name="T50" fmla="*/ 103 w 105"/>
                <a:gd name="T51" fmla="*/ 105 w 105"/>
              </a:gdLst>
              <a:ahLst/>
              <a:cxnLst>
                <a:cxn ang="0">
                  <a:pos x="T0" y="0"/>
                </a:cxn>
                <a:cxn ang="0">
                  <a:pos x="T1" y="0"/>
                </a:cxn>
                <a:cxn ang="0">
                  <a:pos x="T2" y="0"/>
                </a:cxn>
                <a:cxn ang="0">
                  <a:pos x="T3" y="0"/>
                </a:cxn>
                <a:cxn ang="0">
                  <a:pos x="T4" y="0"/>
                </a:cxn>
                <a:cxn ang="0">
                  <a:pos x="T5" y="0"/>
                </a:cxn>
                <a:cxn ang="0">
                  <a:pos x="T6" y="0"/>
                </a:cxn>
                <a:cxn ang="0">
                  <a:pos x="T7" y="0"/>
                </a:cxn>
                <a:cxn ang="0">
                  <a:pos x="T8" y="0"/>
                </a:cxn>
                <a:cxn ang="0">
                  <a:pos x="T9" y="0"/>
                </a:cxn>
                <a:cxn ang="0">
                  <a:pos x="T10" y="0"/>
                </a:cxn>
                <a:cxn ang="0">
                  <a:pos x="T11" y="0"/>
                </a:cxn>
                <a:cxn ang="0">
                  <a:pos x="T12" y="0"/>
                </a:cxn>
                <a:cxn ang="0">
                  <a:pos x="T13" y="0"/>
                </a:cxn>
                <a:cxn ang="0">
                  <a:pos x="T14" y="0"/>
                </a:cxn>
                <a:cxn ang="0">
                  <a:pos x="T15" y="0"/>
                </a:cxn>
                <a:cxn ang="0">
                  <a:pos x="T16" y="0"/>
                </a:cxn>
                <a:cxn ang="0">
                  <a:pos x="T17" y="0"/>
                </a:cxn>
                <a:cxn ang="0">
                  <a:pos x="T18" y="0"/>
                </a:cxn>
                <a:cxn ang="0">
                  <a:pos x="T19" y="0"/>
                </a:cxn>
                <a:cxn ang="0">
                  <a:pos x="T20" y="0"/>
                </a:cxn>
                <a:cxn ang="0">
                  <a:pos x="T21" y="0"/>
                </a:cxn>
                <a:cxn ang="0">
                  <a:pos x="T22" y="0"/>
                </a:cxn>
                <a:cxn ang="0">
                  <a:pos x="T23" y="0"/>
                </a:cxn>
                <a:cxn ang="0">
                  <a:pos x="T24" y="0"/>
                </a:cxn>
                <a:cxn ang="0">
                  <a:pos x="T25" y="0"/>
                </a:cxn>
                <a:cxn ang="0">
                  <a:pos x="T26" y="0"/>
                </a:cxn>
                <a:cxn ang="0">
                  <a:pos x="T27" y="0"/>
                </a:cxn>
                <a:cxn ang="0">
                  <a:pos x="T28" y="0"/>
                </a:cxn>
                <a:cxn ang="0">
                  <a:pos x="T29" y="0"/>
                </a:cxn>
                <a:cxn ang="0">
                  <a:pos x="T30" y="0"/>
                </a:cxn>
                <a:cxn ang="0">
                  <a:pos x="T31" y="0"/>
                </a:cxn>
                <a:cxn ang="0">
                  <a:pos x="T32" y="0"/>
                </a:cxn>
                <a:cxn ang="0">
                  <a:pos x="T33" y="0"/>
                </a:cxn>
                <a:cxn ang="0">
                  <a:pos x="T34" y="0"/>
                </a:cxn>
                <a:cxn ang="0">
                  <a:pos x="T35" y="0"/>
                </a:cxn>
                <a:cxn ang="0">
                  <a:pos x="T36" y="0"/>
                </a:cxn>
                <a:cxn ang="0">
                  <a:pos x="T37" y="0"/>
                </a:cxn>
                <a:cxn ang="0">
                  <a:pos x="T38" y="0"/>
                </a:cxn>
                <a:cxn ang="0">
                  <a:pos x="T39" y="0"/>
                </a:cxn>
                <a:cxn ang="0">
                  <a:pos x="T40" y="0"/>
                </a:cxn>
                <a:cxn ang="0">
                  <a:pos x="T41" y="0"/>
                </a:cxn>
                <a:cxn ang="0">
                  <a:pos x="T42" y="0"/>
                </a:cxn>
                <a:cxn ang="0">
                  <a:pos x="T43" y="0"/>
                </a:cxn>
                <a:cxn ang="0">
                  <a:pos x="T44" y="0"/>
                </a:cxn>
                <a:cxn ang="0">
                  <a:pos x="T45" y="0"/>
                </a:cxn>
                <a:cxn ang="0">
                  <a:pos x="T46" y="0"/>
                </a:cxn>
                <a:cxn ang="0">
                  <a:pos x="T47" y="0"/>
                </a:cxn>
                <a:cxn ang="0">
                  <a:pos x="T48" y="0"/>
                </a:cxn>
                <a:cxn ang="0">
                  <a:pos x="T49" y="0"/>
                </a:cxn>
                <a:cxn ang="0">
                  <a:pos x="T50" y="0"/>
                </a:cxn>
                <a:cxn ang="0">
                  <a:pos x="T51" y="0"/>
                </a:cxn>
              </a:cxnLst>
              <a:rect l="0" t="0" r="r" b="b"/>
              <a:pathLst>
                <a:path w="105">
                  <a:moveTo>
                    <a:pt x="0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7" y="0"/>
                  </a:lnTo>
                  <a:lnTo>
                    <a:pt x="9" y="0"/>
                  </a:lnTo>
                  <a:lnTo>
                    <a:pt x="11" y="0"/>
                  </a:lnTo>
                  <a:lnTo>
                    <a:pt x="13" y="0"/>
                  </a:lnTo>
                  <a:lnTo>
                    <a:pt x="15" y="0"/>
                  </a:lnTo>
                  <a:lnTo>
                    <a:pt x="17" y="0"/>
                  </a:lnTo>
                  <a:lnTo>
                    <a:pt x="19" y="0"/>
                  </a:lnTo>
                  <a:lnTo>
                    <a:pt x="21" y="0"/>
                  </a:lnTo>
                  <a:lnTo>
                    <a:pt x="23" y="0"/>
                  </a:lnTo>
                  <a:lnTo>
                    <a:pt x="25" y="0"/>
                  </a:lnTo>
                  <a:lnTo>
                    <a:pt x="27" y="0"/>
                  </a:lnTo>
                  <a:lnTo>
                    <a:pt x="29" y="0"/>
                  </a:lnTo>
                  <a:lnTo>
                    <a:pt x="31" y="0"/>
                  </a:lnTo>
                  <a:lnTo>
                    <a:pt x="33" y="0"/>
                  </a:lnTo>
                  <a:lnTo>
                    <a:pt x="35" y="0"/>
                  </a:lnTo>
                  <a:lnTo>
                    <a:pt x="37" y="0"/>
                  </a:lnTo>
                  <a:lnTo>
                    <a:pt x="39" y="0"/>
                  </a:lnTo>
                  <a:lnTo>
                    <a:pt x="42" y="0"/>
                  </a:lnTo>
                  <a:lnTo>
                    <a:pt x="44" y="0"/>
                  </a:lnTo>
                  <a:lnTo>
                    <a:pt x="46" y="0"/>
                  </a:lnTo>
                  <a:lnTo>
                    <a:pt x="48" y="0"/>
                  </a:lnTo>
                  <a:lnTo>
                    <a:pt x="50" y="0"/>
                  </a:lnTo>
                  <a:lnTo>
                    <a:pt x="52" y="0"/>
                  </a:lnTo>
                  <a:lnTo>
                    <a:pt x="54" y="0"/>
                  </a:lnTo>
                  <a:lnTo>
                    <a:pt x="56" y="0"/>
                  </a:lnTo>
                  <a:lnTo>
                    <a:pt x="58" y="0"/>
                  </a:lnTo>
                  <a:lnTo>
                    <a:pt x="60" y="0"/>
                  </a:lnTo>
                  <a:lnTo>
                    <a:pt x="62" y="0"/>
                  </a:lnTo>
                  <a:lnTo>
                    <a:pt x="64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9" y="0"/>
                  </a:lnTo>
                  <a:lnTo>
                    <a:pt x="81" y="0"/>
                  </a:lnTo>
                  <a:lnTo>
                    <a:pt x="83" y="0"/>
                  </a:lnTo>
                  <a:lnTo>
                    <a:pt x="85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4" name="Freeform 83"/>
            <p:cNvSpPr>
              <a:spLocks/>
            </p:cNvSpPr>
            <p:nvPr/>
          </p:nvSpPr>
          <p:spPr bwMode="auto">
            <a:xfrm>
              <a:off x="5517966" y="5226058"/>
              <a:ext cx="274935" cy="748223"/>
            </a:xfrm>
            <a:custGeom>
              <a:avLst/>
              <a:gdLst>
                <a:gd name="T0" fmla="*/ 0 w 105"/>
                <a:gd name="T1" fmla="*/ 277 h 277"/>
                <a:gd name="T2" fmla="*/ 2 w 105"/>
                <a:gd name="T3" fmla="*/ 277 h 277"/>
                <a:gd name="T4" fmla="*/ 4 w 105"/>
                <a:gd name="T5" fmla="*/ 277 h 277"/>
                <a:gd name="T6" fmla="*/ 6 w 105"/>
                <a:gd name="T7" fmla="*/ 270 h 277"/>
                <a:gd name="T8" fmla="*/ 8 w 105"/>
                <a:gd name="T9" fmla="*/ 263 h 277"/>
                <a:gd name="T10" fmla="*/ 10 w 105"/>
                <a:gd name="T11" fmla="*/ 256 h 277"/>
                <a:gd name="T12" fmla="*/ 13 w 105"/>
                <a:gd name="T13" fmla="*/ 249 h 277"/>
                <a:gd name="T14" fmla="*/ 15 w 105"/>
                <a:gd name="T15" fmla="*/ 243 h 277"/>
                <a:gd name="T16" fmla="*/ 17 w 105"/>
                <a:gd name="T17" fmla="*/ 236 h 277"/>
                <a:gd name="T18" fmla="*/ 19 w 105"/>
                <a:gd name="T19" fmla="*/ 229 h 277"/>
                <a:gd name="T20" fmla="*/ 21 w 105"/>
                <a:gd name="T21" fmla="*/ 222 h 277"/>
                <a:gd name="T22" fmla="*/ 23 w 105"/>
                <a:gd name="T23" fmla="*/ 216 h 277"/>
                <a:gd name="T24" fmla="*/ 25 w 105"/>
                <a:gd name="T25" fmla="*/ 209 h 277"/>
                <a:gd name="T26" fmla="*/ 27 w 105"/>
                <a:gd name="T27" fmla="*/ 203 h 277"/>
                <a:gd name="T28" fmla="*/ 29 w 105"/>
                <a:gd name="T29" fmla="*/ 197 h 277"/>
                <a:gd name="T30" fmla="*/ 31 w 105"/>
                <a:gd name="T31" fmla="*/ 190 h 277"/>
                <a:gd name="T32" fmla="*/ 33 w 105"/>
                <a:gd name="T33" fmla="*/ 184 h 277"/>
                <a:gd name="T34" fmla="*/ 35 w 105"/>
                <a:gd name="T35" fmla="*/ 178 h 277"/>
                <a:gd name="T36" fmla="*/ 37 w 105"/>
                <a:gd name="T37" fmla="*/ 172 h 277"/>
                <a:gd name="T38" fmla="*/ 39 w 105"/>
                <a:gd name="T39" fmla="*/ 166 h 277"/>
                <a:gd name="T40" fmla="*/ 41 w 105"/>
                <a:gd name="T41" fmla="*/ 160 h 277"/>
                <a:gd name="T42" fmla="*/ 43 w 105"/>
                <a:gd name="T43" fmla="*/ 154 h 277"/>
                <a:gd name="T44" fmla="*/ 45 w 105"/>
                <a:gd name="T45" fmla="*/ 148 h 277"/>
                <a:gd name="T46" fmla="*/ 47 w 105"/>
                <a:gd name="T47" fmla="*/ 142 h 277"/>
                <a:gd name="T48" fmla="*/ 50 w 105"/>
                <a:gd name="T49" fmla="*/ 136 h 277"/>
                <a:gd name="T50" fmla="*/ 52 w 105"/>
                <a:gd name="T51" fmla="*/ 130 h 277"/>
                <a:gd name="T52" fmla="*/ 54 w 105"/>
                <a:gd name="T53" fmla="*/ 125 h 277"/>
                <a:gd name="T54" fmla="*/ 56 w 105"/>
                <a:gd name="T55" fmla="*/ 119 h 277"/>
                <a:gd name="T56" fmla="*/ 58 w 105"/>
                <a:gd name="T57" fmla="*/ 114 h 277"/>
                <a:gd name="T58" fmla="*/ 60 w 105"/>
                <a:gd name="T59" fmla="*/ 108 h 277"/>
                <a:gd name="T60" fmla="*/ 62 w 105"/>
                <a:gd name="T61" fmla="*/ 103 h 277"/>
                <a:gd name="T62" fmla="*/ 64 w 105"/>
                <a:gd name="T63" fmla="*/ 97 h 277"/>
                <a:gd name="T64" fmla="*/ 66 w 105"/>
                <a:gd name="T65" fmla="*/ 92 h 277"/>
                <a:gd name="T66" fmla="*/ 68 w 105"/>
                <a:gd name="T67" fmla="*/ 87 h 277"/>
                <a:gd name="T68" fmla="*/ 70 w 105"/>
                <a:gd name="T69" fmla="*/ 82 h 277"/>
                <a:gd name="T70" fmla="*/ 72 w 105"/>
                <a:gd name="T71" fmla="*/ 77 h 277"/>
                <a:gd name="T72" fmla="*/ 74 w 105"/>
                <a:gd name="T73" fmla="*/ 71 h 277"/>
                <a:gd name="T74" fmla="*/ 76 w 105"/>
                <a:gd name="T75" fmla="*/ 66 h 277"/>
                <a:gd name="T76" fmla="*/ 78 w 105"/>
                <a:gd name="T77" fmla="*/ 61 h 277"/>
                <a:gd name="T78" fmla="*/ 80 w 105"/>
                <a:gd name="T79" fmla="*/ 56 h 277"/>
                <a:gd name="T80" fmla="*/ 82 w 105"/>
                <a:gd name="T81" fmla="*/ 51 h 277"/>
                <a:gd name="T82" fmla="*/ 84 w 105"/>
                <a:gd name="T83" fmla="*/ 47 h 277"/>
                <a:gd name="T84" fmla="*/ 86 w 105"/>
                <a:gd name="T85" fmla="*/ 42 h 277"/>
                <a:gd name="T86" fmla="*/ 89 w 105"/>
                <a:gd name="T87" fmla="*/ 37 h 277"/>
                <a:gd name="T88" fmla="*/ 91 w 105"/>
                <a:gd name="T89" fmla="*/ 32 h 277"/>
                <a:gd name="T90" fmla="*/ 93 w 105"/>
                <a:gd name="T91" fmla="*/ 27 h 277"/>
                <a:gd name="T92" fmla="*/ 95 w 105"/>
                <a:gd name="T93" fmla="*/ 23 h 277"/>
                <a:gd name="T94" fmla="*/ 97 w 105"/>
                <a:gd name="T95" fmla="*/ 18 h 277"/>
                <a:gd name="T96" fmla="*/ 99 w 105"/>
                <a:gd name="T97" fmla="*/ 14 h 277"/>
                <a:gd name="T98" fmla="*/ 101 w 105"/>
                <a:gd name="T99" fmla="*/ 9 h 277"/>
                <a:gd name="T100" fmla="*/ 103 w 105"/>
                <a:gd name="T101" fmla="*/ 5 h 277"/>
                <a:gd name="T102" fmla="*/ 105 w 105"/>
                <a:gd name="T103" fmla="*/ 0 h 2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277">
                  <a:moveTo>
                    <a:pt x="0" y="277"/>
                  </a:moveTo>
                  <a:lnTo>
                    <a:pt x="2" y="277"/>
                  </a:lnTo>
                  <a:lnTo>
                    <a:pt x="4" y="277"/>
                  </a:lnTo>
                  <a:lnTo>
                    <a:pt x="6" y="270"/>
                  </a:lnTo>
                  <a:lnTo>
                    <a:pt x="8" y="263"/>
                  </a:lnTo>
                  <a:lnTo>
                    <a:pt x="10" y="256"/>
                  </a:lnTo>
                  <a:lnTo>
                    <a:pt x="13" y="249"/>
                  </a:lnTo>
                  <a:lnTo>
                    <a:pt x="15" y="243"/>
                  </a:lnTo>
                  <a:lnTo>
                    <a:pt x="17" y="236"/>
                  </a:lnTo>
                  <a:lnTo>
                    <a:pt x="19" y="229"/>
                  </a:lnTo>
                  <a:lnTo>
                    <a:pt x="21" y="222"/>
                  </a:lnTo>
                  <a:lnTo>
                    <a:pt x="23" y="216"/>
                  </a:lnTo>
                  <a:lnTo>
                    <a:pt x="25" y="209"/>
                  </a:lnTo>
                  <a:lnTo>
                    <a:pt x="27" y="203"/>
                  </a:lnTo>
                  <a:lnTo>
                    <a:pt x="29" y="197"/>
                  </a:lnTo>
                  <a:lnTo>
                    <a:pt x="31" y="190"/>
                  </a:lnTo>
                  <a:lnTo>
                    <a:pt x="33" y="184"/>
                  </a:lnTo>
                  <a:lnTo>
                    <a:pt x="35" y="178"/>
                  </a:lnTo>
                  <a:lnTo>
                    <a:pt x="37" y="172"/>
                  </a:lnTo>
                  <a:lnTo>
                    <a:pt x="39" y="166"/>
                  </a:lnTo>
                  <a:lnTo>
                    <a:pt x="41" y="160"/>
                  </a:lnTo>
                  <a:lnTo>
                    <a:pt x="43" y="154"/>
                  </a:lnTo>
                  <a:lnTo>
                    <a:pt x="45" y="148"/>
                  </a:lnTo>
                  <a:lnTo>
                    <a:pt x="47" y="142"/>
                  </a:lnTo>
                  <a:lnTo>
                    <a:pt x="50" y="136"/>
                  </a:lnTo>
                  <a:lnTo>
                    <a:pt x="52" y="130"/>
                  </a:lnTo>
                  <a:lnTo>
                    <a:pt x="54" y="125"/>
                  </a:lnTo>
                  <a:lnTo>
                    <a:pt x="56" y="119"/>
                  </a:lnTo>
                  <a:lnTo>
                    <a:pt x="58" y="114"/>
                  </a:lnTo>
                  <a:lnTo>
                    <a:pt x="60" y="108"/>
                  </a:lnTo>
                  <a:lnTo>
                    <a:pt x="62" y="103"/>
                  </a:lnTo>
                  <a:lnTo>
                    <a:pt x="64" y="97"/>
                  </a:lnTo>
                  <a:lnTo>
                    <a:pt x="66" y="92"/>
                  </a:lnTo>
                  <a:lnTo>
                    <a:pt x="68" y="87"/>
                  </a:lnTo>
                  <a:lnTo>
                    <a:pt x="70" y="82"/>
                  </a:lnTo>
                  <a:lnTo>
                    <a:pt x="72" y="77"/>
                  </a:lnTo>
                  <a:lnTo>
                    <a:pt x="74" y="71"/>
                  </a:lnTo>
                  <a:lnTo>
                    <a:pt x="76" y="66"/>
                  </a:lnTo>
                  <a:lnTo>
                    <a:pt x="78" y="61"/>
                  </a:lnTo>
                  <a:lnTo>
                    <a:pt x="80" y="56"/>
                  </a:lnTo>
                  <a:lnTo>
                    <a:pt x="82" y="51"/>
                  </a:lnTo>
                  <a:lnTo>
                    <a:pt x="84" y="47"/>
                  </a:lnTo>
                  <a:lnTo>
                    <a:pt x="86" y="42"/>
                  </a:lnTo>
                  <a:lnTo>
                    <a:pt x="89" y="37"/>
                  </a:lnTo>
                  <a:lnTo>
                    <a:pt x="91" y="32"/>
                  </a:lnTo>
                  <a:lnTo>
                    <a:pt x="93" y="27"/>
                  </a:lnTo>
                  <a:lnTo>
                    <a:pt x="95" y="23"/>
                  </a:lnTo>
                  <a:lnTo>
                    <a:pt x="97" y="18"/>
                  </a:lnTo>
                  <a:lnTo>
                    <a:pt x="99" y="14"/>
                  </a:lnTo>
                  <a:lnTo>
                    <a:pt x="101" y="9"/>
                  </a:lnTo>
                  <a:lnTo>
                    <a:pt x="103" y="5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5" name="Freeform 84"/>
            <p:cNvSpPr>
              <a:spLocks/>
            </p:cNvSpPr>
            <p:nvPr/>
          </p:nvSpPr>
          <p:spPr bwMode="auto">
            <a:xfrm>
              <a:off x="5787665" y="4761458"/>
              <a:ext cx="274935" cy="478107"/>
            </a:xfrm>
            <a:custGeom>
              <a:avLst/>
              <a:gdLst>
                <a:gd name="T0" fmla="*/ 0 w 105"/>
                <a:gd name="T1" fmla="*/ 177 h 177"/>
                <a:gd name="T2" fmla="*/ 2 w 105"/>
                <a:gd name="T3" fmla="*/ 172 h 177"/>
                <a:gd name="T4" fmla="*/ 4 w 105"/>
                <a:gd name="T5" fmla="*/ 168 h 177"/>
                <a:gd name="T6" fmla="*/ 6 w 105"/>
                <a:gd name="T7" fmla="*/ 164 h 177"/>
                <a:gd name="T8" fmla="*/ 8 w 105"/>
                <a:gd name="T9" fmla="*/ 159 h 177"/>
                <a:gd name="T10" fmla="*/ 10 w 105"/>
                <a:gd name="T11" fmla="*/ 155 h 177"/>
                <a:gd name="T12" fmla="*/ 12 w 105"/>
                <a:gd name="T13" fmla="*/ 151 h 177"/>
                <a:gd name="T14" fmla="*/ 14 w 105"/>
                <a:gd name="T15" fmla="*/ 147 h 177"/>
                <a:gd name="T16" fmla="*/ 16 w 105"/>
                <a:gd name="T17" fmla="*/ 143 h 177"/>
                <a:gd name="T18" fmla="*/ 18 w 105"/>
                <a:gd name="T19" fmla="*/ 139 h 177"/>
                <a:gd name="T20" fmla="*/ 20 w 105"/>
                <a:gd name="T21" fmla="*/ 135 h 177"/>
                <a:gd name="T22" fmla="*/ 23 w 105"/>
                <a:gd name="T23" fmla="*/ 131 h 177"/>
                <a:gd name="T24" fmla="*/ 25 w 105"/>
                <a:gd name="T25" fmla="*/ 127 h 177"/>
                <a:gd name="T26" fmla="*/ 27 w 105"/>
                <a:gd name="T27" fmla="*/ 123 h 177"/>
                <a:gd name="T28" fmla="*/ 29 w 105"/>
                <a:gd name="T29" fmla="*/ 119 h 177"/>
                <a:gd name="T30" fmla="*/ 31 w 105"/>
                <a:gd name="T31" fmla="*/ 115 h 177"/>
                <a:gd name="T32" fmla="*/ 33 w 105"/>
                <a:gd name="T33" fmla="*/ 111 h 177"/>
                <a:gd name="T34" fmla="*/ 35 w 105"/>
                <a:gd name="T35" fmla="*/ 108 h 177"/>
                <a:gd name="T36" fmla="*/ 37 w 105"/>
                <a:gd name="T37" fmla="*/ 104 h 177"/>
                <a:gd name="T38" fmla="*/ 39 w 105"/>
                <a:gd name="T39" fmla="*/ 100 h 177"/>
                <a:gd name="T40" fmla="*/ 41 w 105"/>
                <a:gd name="T41" fmla="*/ 97 h 177"/>
                <a:gd name="T42" fmla="*/ 43 w 105"/>
                <a:gd name="T43" fmla="*/ 93 h 177"/>
                <a:gd name="T44" fmla="*/ 45 w 105"/>
                <a:gd name="T45" fmla="*/ 89 h 177"/>
                <a:gd name="T46" fmla="*/ 47 w 105"/>
                <a:gd name="T47" fmla="*/ 86 h 177"/>
                <a:gd name="T48" fmla="*/ 49 w 105"/>
                <a:gd name="T49" fmla="*/ 82 h 177"/>
                <a:gd name="T50" fmla="*/ 51 w 105"/>
                <a:gd name="T51" fmla="*/ 79 h 177"/>
                <a:gd name="T52" fmla="*/ 53 w 105"/>
                <a:gd name="T53" fmla="*/ 76 h 177"/>
                <a:gd name="T54" fmla="*/ 55 w 105"/>
                <a:gd name="T55" fmla="*/ 72 h 177"/>
                <a:gd name="T56" fmla="*/ 58 w 105"/>
                <a:gd name="T57" fmla="*/ 69 h 177"/>
                <a:gd name="T58" fmla="*/ 60 w 105"/>
                <a:gd name="T59" fmla="*/ 65 h 177"/>
                <a:gd name="T60" fmla="*/ 62 w 105"/>
                <a:gd name="T61" fmla="*/ 62 h 177"/>
                <a:gd name="T62" fmla="*/ 64 w 105"/>
                <a:gd name="T63" fmla="*/ 59 h 177"/>
                <a:gd name="T64" fmla="*/ 66 w 105"/>
                <a:gd name="T65" fmla="*/ 56 h 177"/>
                <a:gd name="T66" fmla="*/ 68 w 105"/>
                <a:gd name="T67" fmla="*/ 53 h 177"/>
                <a:gd name="T68" fmla="*/ 70 w 105"/>
                <a:gd name="T69" fmla="*/ 49 h 177"/>
                <a:gd name="T70" fmla="*/ 72 w 105"/>
                <a:gd name="T71" fmla="*/ 46 h 177"/>
                <a:gd name="T72" fmla="*/ 74 w 105"/>
                <a:gd name="T73" fmla="*/ 43 h 177"/>
                <a:gd name="T74" fmla="*/ 76 w 105"/>
                <a:gd name="T75" fmla="*/ 40 h 177"/>
                <a:gd name="T76" fmla="*/ 78 w 105"/>
                <a:gd name="T77" fmla="*/ 37 h 177"/>
                <a:gd name="T78" fmla="*/ 80 w 105"/>
                <a:gd name="T79" fmla="*/ 34 h 177"/>
                <a:gd name="T80" fmla="*/ 82 w 105"/>
                <a:gd name="T81" fmla="*/ 31 h 177"/>
                <a:gd name="T82" fmla="*/ 84 w 105"/>
                <a:gd name="T83" fmla="*/ 28 h 177"/>
                <a:gd name="T84" fmla="*/ 86 w 105"/>
                <a:gd name="T85" fmla="*/ 25 h 177"/>
                <a:gd name="T86" fmla="*/ 88 w 105"/>
                <a:gd name="T87" fmla="*/ 22 h 177"/>
                <a:gd name="T88" fmla="*/ 91 w 105"/>
                <a:gd name="T89" fmla="*/ 19 h 177"/>
                <a:gd name="T90" fmla="*/ 93 w 105"/>
                <a:gd name="T91" fmla="*/ 17 h 177"/>
                <a:gd name="T92" fmla="*/ 95 w 105"/>
                <a:gd name="T93" fmla="*/ 14 h 177"/>
                <a:gd name="T94" fmla="*/ 97 w 105"/>
                <a:gd name="T95" fmla="*/ 11 h 177"/>
                <a:gd name="T96" fmla="*/ 99 w 105"/>
                <a:gd name="T97" fmla="*/ 8 h 177"/>
                <a:gd name="T98" fmla="*/ 101 w 105"/>
                <a:gd name="T99" fmla="*/ 6 h 177"/>
                <a:gd name="T100" fmla="*/ 103 w 105"/>
                <a:gd name="T101" fmla="*/ 3 h 177"/>
                <a:gd name="T102" fmla="*/ 105 w 105"/>
                <a:gd name="T103" fmla="*/ 0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177">
                  <a:moveTo>
                    <a:pt x="0" y="177"/>
                  </a:moveTo>
                  <a:lnTo>
                    <a:pt x="2" y="172"/>
                  </a:lnTo>
                  <a:lnTo>
                    <a:pt x="4" y="168"/>
                  </a:lnTo>
                  <a:lnTo>
                    <a:pt x="6" y="164"/>
                  </a:lnTo>
                  <a:lnTo>
                    <a:pt x="8" y="159"/>
                  </a:lnTo>
                  <a:lnTo>
                    <a:pt x="10" y="155"/>
                  </a:lnTo>
                  <a:lnTo>
                    <a:pt x="12" y="151"/>
                  </a:lnTo>
                  <a:lnTo>
                    <a:pt x="14" y="147"/>
                  </a:lnTo>
                  <a:lnTo>
                    <a:pt x="16" y="143"/>
                  </a:lnTo>
                  <a:lnTo>
                    <a:pt x="18" y="139"/>
                  </a:lnTo>
                  <a:lnTo>
                    <a:pt x="20" y="135"/>
                  </a:lnTo>
                  <a:lnTo>
                    <a:pt x="23" y="131"/>
                  </a:lnTo>
                  <a:lnTo>
                    <a:pt x="25" y="127"/>
                  </a:lnTo>
                  <a:lnTo>
                    <a:pt x="27" y="123"/>
                  </a:lnTo>
                  <a:lnTo>
                    <a:pt x="29" y="119"/>
                  </a:lnTo>
                  <a:lnTo>
                    <a:pt x="31" y="115"/>
                  </a:lnTo>
                  <a:lnTo>
                    <a:pt x="33" y="111"/>
                  </a:lnTo>
                  <a:lnTo>
                    <a:pt x="35" y="108"/>
                  </a:lnTo>
                  <a:lnTo>
                    <a:pt x="37" y="104"/>
                  </a:lnTo>
                  <a:lnTo>
                    <a:pt x="39" y="100"/>
                  </a:lnTo>
                  <a:lnTo>
                    <a:pt x="41" y="97"/>
                  </a:lnTo>
                  <a:lnTo>
                    <a:pt x="43" y="93"/>
                  </a:lnTo>
                  <a:lnTo>
                    <a:pt x="45" y="89"/>
                  </a:lnTo>
                  <a:lnTo>
                    <a:pt x="47" y="86"/>
                  </a:lnTo>
                  <a:lnTo>
                    <a:pt x="49" y="82"/>
                  </a:lnTo>
                  <a:lnTo>
                    <a:pt x="51" y="79"/>
                  </a:lnTo>
                  <a:lnTo>
                    <a:pt x="53" y="76"/>
                  </a:lnTo>
                  <a:lnTo>
                    <a:pt x="55" y="72"/>
                  </a:lnTo>
                  <a:lnTo>
                    <a:pt x="58" y="69"/>
                  </a:lnTo>
                  <a:lnTo>
                    <a:pt x="60" y="65"/>
                  </a:lnTo>
                  <a:lnTo>
                    <a:pt x="62" y="62"/>
                  </a:lnTo>
                  <a:lnTo>
                    <a:pt x="64" y="59"/>
                  </a:lnTo>
                  <a:lnTo>
                    <a:pt x="66" y="56"/>
                  </a:lnTo>
                  <a:lnTo>
                    <a:pt x="68" y="53"/>
                  </a:lnTo>
                  <a:lnTo>
                    <a:pt x="70" y="49"/>
                  </a:lnTo>
                  <a:lnTo>
                    <a:pt x="72" y="46"/>
                  </a:lnTo>
                  <a:lnTo>
                    <a:pt x="74" y="43"/>
                  </a:lnTo>
                  <a:lnTo>
                    <a:pt x="76" y="40"/>
                  </a:lnTo>
                  <a:lnTo>
                    <a:pt x="78" y="37"/>
                  </a:lnTo>
                  <a:lnTo>
                    <a:pt x="80" y="34"/>
                  </a:lnTo>
                  <a:lnTo>
                    <a:pt x="82" y="31"/>
                  </a:lnTo>
                  <a:lnTo>
                    <a:pt x="84" y="28"/>
                  </a:lnTo>
                  <a:lnTo>
                    <a:pt x="86" y="25"/>
                  </a:lnTo>
                  <a:lnTo>
                    <a:pt x="88" y="22"/>
                  </a:lnTo>
                  <a:lnTo>
                    <a:pt x="91" y="19"/>
                  </a:lnTo>
                  <a:lnTo>
                    <a:pt x="93" y="17"/>
                  </a:lnTo>
                  <a:lnTo>
                    <a:pt x="95" y="14"/>
                  </a:lnTo>
                  <a:lnTo>
                    <a:pt x="97" y="11"/>
                  </a:lnTo>
                  <a:lnTo>
                    <a:pt x="99" y="8"/>
                  </a:lnTo>
                  <a:lnTo>
                    <a:pt x="101" y="6"/>
                  </a:lnTo>
                  <a:lnTo>
                    <a:pt x="103" y="3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6" name="Freeform 85"/>
            <p:cNvSpPr>
              <a:spLocks/>
            </p:cNvSpPr>
            <p:nvPr/>
          </p:nvSpPr>
          <p:spPr bwMode="auto">
            <a:xfrm>
              <a:off x="6057362" y="4480536"/>
              <a:ext cx="274935" cy="289026"/>
            </a:xfrm>
            <a:custGeom>
              <a:avLst/>
              <a:gdLst>
                <a:gd name="T0" fmla="*/ 0 w 105"/>
                <a:gd name="T1" fmla="*/ 107 h 107"/>
                <a:gd name="T2" fmla="*/ 2 w 105"/>
                <a:gd name="T3" fmla="*/ 104 h 107"/>
                <a:gd name="T4" fmla="*/ 4 w 105"/>
                <a:gd name="T5" fmla="*/ 101 h 107"/>
                <a:gd name="T6" fmla="*/ 6 w 105"/>
                <a:gd name="T7" fmla="*/ 99 h 107"/>
                <a:gd name="T8" fmla="*/ 8 w 105"/>
                <a:gd name="T9" fmla="*/ 96 h 107"/>
                <a:gd name="T10" fmla="*/ 10 w 105"/>
                <a:gd name="T11" fmla="*/ 93 h 107"/>
                <a:gd name="T12" fmla="*/ 12 w 105"/>
                <a:gd name="T13" fmla="*/ 91 h 107"/>
                <a:gd name="T14" fmla="*/ 14 w 105"/>
                <a:gd name="T15" fmla="*/ 88 h 107"/>
                <a:gd name="T16" fmla="*/ 16 w 105"/>
                <a:gd name="T17" fmla="*/ 86 h 107"/>
                <a:gd name="T18" fmla="*/ 18 w 105"/>
                <a:gd name="T19" fmla="*/ 84 h 107"/>
                <a:gd name="T20" fmla="*/ 21 w 105"/>
                <a:gd name="T21" fmla="*/ 81 h 107"/>
                <a:gd name="T22" fmla="*/ 23 w 105"/>
                <a:gd name="T23" fmla="*/ 79 h 107"/>
                <a:gd name="T24" fmla="*/ 25 w 105"/>
                <a:gd name="T25" fmla="*/ 76 h 107"/>
                <a:gd name="T26" fmla="*/ 27 w 105"/>
                <a:gd name="T27" fmla="*/ 74 h 107"/>
                <a:gd name="T28" fmla="*/ 29 w 105"/>
                <a:gd name="T29" fmla="*/ 72 h 107"/>
                <a:gd name="T30" fmla="*/ 31 w 105"/>
                <a:gd name="T31" fmla="*/ 69 h 107"/>
                <a:gd name="T32" fmla="*/ 33 w 105"/>
                <a:gd name="T33" fmla="*/ 67 h 107"/>
                <a:gd name="T34" fmla="*/ 35 w 105"/>
                <a:gd name="T35" fmla="*/ 65 h 107"/>
                <a:gd name="T36" fmla="*/ 37 w 105"/>
                <a:gd name="T37" fmla="*/ 63 h 107"/>
                <a:gd name="T38" fmla="*/ 39 w 105"/>
                <a:gd name="T39" fmla="*/ 60 h 107"/>
                <a:gd name="T40" fmla="*/ 41 w 105"/>
                <a:gd name="T41" fmla="*/ 58 h 107"/>
                <a:gd name="T42" fmla="*/ 43 w 105"/>
                <a:gd name="T43" fmla="*/ 56 h 107"/>
                <a:gd name="T44" fmla="*/ 45 w 105"/>
                <a:gd name="T45" fmla="*/ 54 h 107"/>
                <a:gd name="T46" fmla="*/ 47 w 105"/>
                <a:gd name="T47" fmla="*/ 52 h 107"/>
                <a:gd name="T48" fmla="*/ 49 w 105"/>
                <a:gd name="T49" fmla="*/ 49 h 107"/>
                <a:gd name="T50" fmla="*/ 51 w 105"/>
                <a:gd name="T51" fmla="*/ 47 h 107"/>
                <a:gd name="T52" fmla="*/ 54 w 105"/>
                <a:gd name="T53" fmla="*/ 45 h 107"/>
                <a:gd name="T54" fmla="*/ 56 w 105"/>
                <a:gd name="T55" fmla="*/ 43 h 107"/>
                <a:gd name="T56" fmla="*/ 58 w 105"/>
                <a:gd name="T57" fmla="*/ 41 h 107"/>
                <a:gd name="T58" fmla="*/ 60 w 105"/>
                <a:gd name="T59" fmla="*/ 39 h 107"/>
                <a:gd name="T60" fmla="*/ 62 w 105"/>
                <a:gd name="T61" fmla="*/ 37 h 107"/>
                <a:gd name="T62" fmla="*/ 64 w 105"/>
                <a:gd name="T63" fmla="*/ 35 h 107"/>
                <a:gd name="T64" fmla="*/ 66 w 105"/>
                <a:gd name="T65" fmla="*/ 33 h 107"/>
                <a:gd name="T66" fmla="*/ 68 w 105"/>
                <a:gd name="T67" fmla="*/ 31 h 107"/>
                <a:gd name="T68" fmla="*/ 70 w 105"/>
                <a:gd name="T69" fmla="*/ 30 h 107"/>
                <a:gd name="T70" fmla="*/ 72 w 105"/>
                <a:gd name="T71" fmla="*/ 28 h 107"/>
                <a:gd name="T72" fmla="*/ 74 w 105"/>
                <a:gd name="T73" fmla="*/ 26 h 107"/>
                <a:gd name="T74" fmla="*/ 76 w 105"/>
                <a:gd name="T75" fmla="*/ 24 h 107"/>
                <a:gd name="T76" fmla="*/ 78 w 105"/>
                <a:gd name="T77" fmla="*/ 22 h 107"/>
                <a:gd name="T78" fmla="*/ 80 w 105"/>
                <a:gd name="T79" fmla="*/ 20 h 107"/>
                <a:gd name="T80" fmla="*/ 82 w 105"/>
                <a:gd name="T81" fmla="*/ 18 h 107"/>
                <a:gd name="T82" fmla="*/ 84 w 105"/>
                <a:gd name="T83" fmla="*/ 17 h 107"/>
                <a:gd name="T84" fmla="*/ 86 w 105"/>
                <a:gd name="T85" fmla="*/ 15 h 107"/>
                <a:gd name="T86" fmla="*/ 88 w 105"/>
                <a:gd name="T87" fmla="*/ 13 h 107"/>
                <a:gd name="T88" fmla="*/ 91 w 105"/>
                <a:gd name="T89" fmla="*/ 11 h 107"/>
                <a:gd name="T90" fmla="*/ 93 w 105"/>
                <a:gd name="T91" fmla="*/ 9 h 107"/>
                <a:gd name="T92" fmla="*/ 95 w 105"/>
                <a:gd name="T93" fmla="*/ 8 h 107"/>
                <a:gd name="T94" fmla="*/ 97 w 105"/>
                <a:gd name="T95" fmla="*/ 6 h 107"/>
                <a:gd name="T96" fmla="*/ 99 w 105"/>
                <a:gd name="T97" fmla="*/ 4 h 107"/>
                <a:gd name="T98" fmla="*/ 101 w 105"/>
                <a:gd name="T99" fmla="*/ 3 h 107"/>
                <a:gd name="T100" fmla="*/ 103 w 105"/>
                <a:gd name="T101" fmla="*/ 1 h 107"/>
                <a:gd name="T102" fmla="*/ 105 w 105"/>
                <a:gd name="T103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107">
                  <a:moveTo>
                    <a:pt x="0" y="107"/>
                  </a:moveTo>
                  <a:lnTo>
                    <a:pt x="2" y="104"/>
                  </a:lnTo>
                  <a:lnTo>
                    <a:pt x="4" y="101"/>
                  </a:lnTo>
                  <a:lnTo>
                    <a:pt x="6" y="99"/>
                  </a:lnTo>
                  <a:lnTo>
                    <a:pt x="8" y="96"/>
                  </a:lnTo>
                  <a:lnTo>
                    <a:pt x="10" y="93"/>
                  </a:lnTo>
                  <a:lnTo>
                    <a:pt x="12" y="91"/>
                  </a:lnTo>
                  <a:lnTo>
                    <a:pt x="14" y="88"/>
                  </a:lnTo>
                  <a:lnTo>
                    <a:pt x="16" y="86"/>
                  </a:lnTo>
                  <a:lnTo>
                    <a:pt x="18" y="84"/>
                  </a:lnTo>
                  <a:lnTo>
                    <a:pt x="21" y="81"/>
                  </a:lnTo>
                  <a:lnTo>
                    <a:pt x="23" y="79"/>
                  </a:lnTo>
                  <a:lnTo>
                    <a:pt x="25" y="76"/>
                  </a:lnTo>
                  <a:lnTo>
                    <a:pt x="27" y="74"/>
                  </a:lnTo>
                  <a:lnTo>
                    <a:pt x="29" y="72"/>
                  </a:lnTo>
                  <a:lnTo>
                    <a:pt x="31" y="69"/>
                  </a:lnTo>
                  <a:lnTo>
                    <a:pt x="33" y="67"/>
                  </a:lnTo>
                  <a:lnTo>
                    <a:pt x="35" y="65"/>
                  </a:lnTo>
                  <a:lnTo>
                    <a:pt x="37" y="63"/>
                  </a:lnTo>
                  <a:lnTo>
                    <a:pt x="39" y="60"/>
                  </a:lnTo>
                  <a:lnTo>
                    <a:pt x="41" y="58"/>
                  </a:lnTo>
                  <a:lnTo>
                    <a:pt x="43" y="56"/>
                  </a:lnTo>
                  <a:lnTo>
                    <a:pt x="45" y="54"/>
                  </a:lnTo>
                  <a:lnTo>
                    <a:pt x="47" y="52"/>
                  </a:lnTo>
                  <a:lnTo>
                    <a:pt x="49" y="49"/>
                  </a:lnTo>
                  <a:lnTo>
                    <a:pt x="51" y="47"/>
                  </a:lnTo>
                  <a:lnTo>
                    <a:pt x="54" y="45"/>
                  </a:lnTo>
                  <a:lnTo>
                    <a:pt x="56" y="43"/>
                  </a:lnTo>
                  <a:lnTo>
                    <a:pt x="58" y="41"/>
                  </a:lnTo>
                  <a:lnTo>
                    <a:pt x="60" y="39"/>
                  </a:lnTo>
                  <a:lnTo>
                    <a:pt x="62" y="37"/>
                  </a:lnTo>
                  <a:lnTo>
                    <a:pt x="64" y="35"/>
                  </a:lnTo>
                  <a:lnTo>
                    <a:pt x="66" y="33"/>
                  </a:lnTo>
                  <a:lnTo>
                    <a:pt x="68" y="31"/>
                  </a:lnTo>
                  <a:lnTo>
                    <a:pt x="70" y="30"/>
                  </a:lnTo>
                  <a:lnTo>
                    <a:pt x="72" y="28"/>
                  </a:lnTo>
                  <a:lnTo>
                    <a:pt x="74" y="26"/>
                  </a:lnTo>
                  <a:lnTo>
                    <a:pt x="76" y="24"/>
                  </a:lnTo>
                  <a:lnTo>
                    <a:pt x="78" y="22"/>
                  </a:lnTo>
                  <a:lnTo>
                    <a:pt x="80" y="20"/>
                  </a:lnTo>
                  <a:lnTo>
                    <a:pt x="82" y="18"/>
                  </a:lnTo>
                  <a:lnTo>
                    <a:pt x="84" y="17"/>
                  </a:lnTo>
                  <a:lnTo>
                    <a:pt x="86" y="15"/>
                  </a:lnTo>
                  <a:lnTo>
                    <a:pt x="88" y="13"/>
                  </a:lnTo>
                  <a:lnTo>
                    <a:pt x="91" y="11"/>
                  </a:lnTo>
                  <a:lnTo>
                    <a:pt x="93" y="9"/>
                  </a:lnTo>
                  <a:lnTo>
                    <a:pt x="95" y="8"/>
                  </a:lnTo>
                  <a:lnTo>
                    <a:pt x="97" y="6"/>
                  </a:lnTo>
                  <a:lnTo>
                    <a:pt x="99" y="4"/>
                  </a:lnTo>
                  <a:lnTo>
                    <a:pt x="101" y="3"/>
                  </a:lnTo>
                  <a:lnTo>
                    <a:pt x="103" y="1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7" name="Freeform 86"/>
            <p:cNvSpPr>
              <a:spLocks/>
            </p:cNvSpPr>
            <p:nvPr/>
          </p:nvSpPr>
          <p:spPr bwMode="auto">
            <a:xfrm>
              <a:off x="6327061" y="4307663"/>
              <a:ext cx="274935" cy="175576"/>
            </a:xfrm>
            <a:custGeom>
              <a:avLst/>
              <a:gdLst>
                <a:gd name="T0" fmla="*/ 0 w 105"/>
                <a:gd name="T1" fmla="*/ 65 h 65"/>
                <a:gd name="T2" fmla="*/ 2 w 105"/>
                <a:gd name="T3" fmla="*/ 64 h 65"/>
                <a:gd name="T4" fmla="*/ 4 w 105"/>
                <a:gd name="T5" fmla="*/ 62 h 65"/>
                <a:gd name="T6" fmla="*/ 6 w 105"/>
                <a:gd name="T7" fmla="*/ 60 h 65"/>
                <a:gd name="T8" fmla="*/ 8 w 105"/>
                <a:gd name="T9" fmla="*/ 59 h 65"/>
                <a:gd name="T10" fmla="*/ 10 w 105"/>
                <a:gd name="T11" fmla="*/ 57 h 65"/>
                <a:gd name="T12" fmla="*/ 12 w 105"/>
                <a:gd name="T13" fmla="*/ 56 h 65"/>
                <a:gd name="T14" fmla="*/ 14 w 105"/>
                <a:gd name="T15" fmla="*/ 54 h 65"/>
                <a:gd name="T16" fmla="*/ 16 w 105"/>
                <a:gd name="T17" fmla="*/ 53 h 65"/>
                <a:gd name="T18" fmla="*/ 18 w 105"/>
                <a:gd name="T19" fmla="*/ 51 h 65"/>
                <a:gd name="T20" fmla="*/ 20 w 105"/>
                <a:gd name="T21" fmla="*/ 50 h 65"/>
                <a:gd name="T22" fmla="*/ 22 w 105"/>
                <a:gd name="T23" fmla="*/ 48 h 65"/>
                <a:gd name="T24" fmla="*/ 25 w 105"/>
                <a:gd name="T25" fmla="*/ 47 h 65"/>
                <a:gd name="T26" fmla="*/ 27 w 105"/>
                <a:gd name="T27" fmla="*/ 45 h 65"/>
                <a:gd name="T28" fmla="*/ 29 w 105"/>
                <a:gd name="T29" fmla="*/ 44 h 65"/>
                <a:gd name="T30" fmla="*/ 31 w 105"/>
                <a:gd name="T31" fmla="*/ 42 h 65"/>
                <a:gd name="T32" fmla="*/ 33 w 105"/>
                <a:gd name="T33" fmla="*/ 41 h 65"/>
                <a:gd name="T34" fmla="*/ 35 w 105"/>
                <a:gd name="T35" fmla="*/ 40 h 65"/>
                <a:gd name="T36" fmla="*/ 37 w 105"/>
                <a:gd name="T37" fmla="*/ 38 h 65"/>
                <a:gd name="T38" fmla="*/ 39 w 105"/>
                <a:gd name="T39" fmla="*/ 37 h 65"/>
                <a:gd name="T40" fmla="*/ 41 w 105"/>
                <a:gd name="T41" fmla="*/ 36 h 65"/>
                <a:gd name="T42" fmla="*/ 43 w 105"/>
                <a:gd name="T43" fmla="*/ 34 h 65"/>
                <a:gd name="T44" fmla="*/ 45 w 105"/>
                <a:gd name="T45" fmla="*/ 33 h 65"/>
                <a:gd name="T46" fmla="*/ 47 w 105"/>
                <a:gd name="T47" fmla="*/ 32 h 65"/>
                <a:gd name="T48" fmla="*/ 49 w 105"/>
                <a:gd name="T49" fmla="*/ 30 h 65"/>
                <a:gd name="T50" fmla="*/ 51 w 105"/>
                <a:gd name="T51" fmla="*/ 29 h 65"/>
                <a:gd name="T52" fmla="*/ 53 w 105"/>
                <a:gd name="T53" fmla="*/ 28 h 65"/>
                <a:gd name="T54" fmla="*/ 55 w 105"/>
                <a:gd name="T55" fmla="*/ 27 h 65"/>
                <a:gd name="T56" fmla="*/ 57 w 105"/>
                <a:gd name="T57" fmla="*/ 25 h 65"/>
                <a:gd name="T58" fmla="*/ 59 w 105"/>
                <a:gd name="T59" fmla="*/ 24 h 65"/>
                <a:gd name="T60" fmla="*/ 62 w 105"/>
                <a:gd name="T61" fmla="*/ 23 h 65"/>
                <a:gd name="T62" fmla="*/ 64 w 105"/>
                <a:gd name="T63" fmla="*/ 22 h 65"/>
                <a:gd name="T64" fmla="*/ 66 w 105"/>
                <a:gd name="T65" fmla="*/ 20 h 65"/>
                <a:gd name="T66" fmla="*/ 68 w 105"/>
                <a:gd name="T67" fmla="*/ 19 h 65"/>
                <a:gd name="T68" fmla="*/ 70 w 105"/>
                <a:gd name="T69" fmla="*/ 18 h 65"/>
                <a:gd name="T70" fmla="*/ 72 w 105"/>
                <a:gd name="T71" fmla="*/ 17 h 65"/>
                <a:gd name="T72" fmla="*/ 74 w 105"/>
                <a:gd name="T73" fmla="*/ 16 h 65"/>
                <a:gd name="T74" fmla="*/ 76 w 105"/>
                <a:gd name="T75" fmla="*/ 15 h 65"/>
                <a:gd name="T76" fmla="*/ 78 w 105"/>
                <a:gd name="T77" fmla="*/ 14 h 65"/>
                <a:gd name="T78" fmla="*/ 80 w 105"/>
                <a:gd name="T79" fmla="*/ 13 h 65"/>
                <a:gd name="T80" fmla="*/ 82 w 105"/>
                <a:gd name="T81" fmla="*/ 12 h 65"/>
                <a:gd name="T82" fmla="*/ 84 w 105"/>
                <a:gd name="T83" fmla="*/ 10 h 65"/>
                <a:gd name="T84" fmla="*/ 86 w 105"/>
                <a:gd name="T85" fmla="*/ 9 h 65"/>
                <a:gd name="T86" fmla="*/ 88 w 105"/>
                <a:gd name="T87" fmla="*/ 8 h 65"/>
                <a:gd name="T88" fmla="*/ 90 w 105"/>
                <a:gd name="T89" fmla="*/ 7 h 65"/>
                <a:gd name="T90" fmla="*/ 92 w 105"/>
                <a:gd name="T91" fmla="*/ 6 h 65"/>
                <a:gd name="T92" fmla="*/ 94 w 105"/>
                <a:gd name="T93" fmla="*/ 5 h 65"/>
                <a:gd name="T94" fmla="*/ 96 w 105"/>
                <a:gd name="T95" fmla="*/ 4 h 65"/>
                <a:gd name="T96" fmla="*/ 99 w 105"/>
                <a:gd name="T97" fmla="*/ 3 h 65"/>
                <a:gd name="T98" fmla="*/ 101 w 105"/>
                <a:gd name="T99" fmla="*/ 2 h 65"/>
                <a:gd name="T100" fmla="*/ 103 w 105"/>
                <a:gd name="T101" fmla="*/ 1 h 65"/>
                <a:gd name="T102" fmla="*/ 105 w 105"/>
                <a:gd name="T103" fmla="*/ 0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65">
                  <a:moveTo>
                    <a:pt x="0" y="65"/>
                  </a:moveTo>
                  <a:lnTo>
                    <a:pt x="2" y="64"/>
                  </a:lnTo>
                  <a:lnTo>
                    <a:pt x="4" y="62"/>
                  </a:lnTo>
                  <a:lnTo>
                    <a:pt x="6" y="60"/>
                  </a:lnTo>
                  <a:lnTo>
                    <a:pt x="8" y="59"/>
                  </a:lnTo>
                  <a:lnTo>
                    <a:pt x="10" y="57"/>
                  </a:lnTo>
                  <a:lnTo>
                    <a:pt x="12" y="56"/>
                  </a:lnTo>
                  <a:lnTo>
                    <a:pt x="14" y="54"/>
                  </a:lnTo>
                  <a:lnTo>
                    <a:pt x="16" y="53"/>
                  </a:lnTo>
                  <a:lnTo>
                    <a:pt x="18" y="51"/>
                  </a:lnTo>
                  <a:lnTo>
                    <a:pt x="20" y="50"/>
                  </a:lnTo>
                  <a:lnTo>
                    <a:pt x="22" y="48"/>
                  </a:lnTo>
                  <a:lnTo>
                    <a:pt x="25" y="47"/>
                  </a:lnTo>
                  <a:lnTo>
                    <a:pt x="27" y="45"/>
                  </a:lnTo>
                  <a:lnTo>
                    <a:pt x="29" y="44"/>
                  </a:lnTo>
                  <a:lnTo>
                    <a:pt x="31" y="42"/>
                  </a:lnTo>
                  <a:lnTo>
                    <a:pt x="33" y="41"/>
                  </a:lnTo>
                  <a:lnTo>
                    <a:pt x="35" y="40"/>
                  </a:lnTo>
                  <a:lnTo>
                    <a:pt x="37" y="38"/>
                  </a:lnTo>
                  <a:lnTo>
                    <a:pt x="39" y="37"/>
                  </a:lnTo>
                  <a:lnTo>
                    <a:pt x="41" y="36"/>
                  </a:lnTo>
                  <a:lnTo>
                    <a:pt x="43" y="34"/>
                  </a:lnTo>
                  <a:lnTo>
                    <a:pt x="45" y="33"/>
                  </a:lnTo>
                  <a:lnTo>
                    <a:pt x="47" y="32"/>
                  </a:lnTo>
                  <a:lnTo>
                    <a:pt x="49" y="30"/>
                  </a:lnTo>
                  <a:lnTo>
                    <a:pt x="51" y="29"/>
                  </a:lnTo>
                  <a:lnTo>
                    <a:pt x="53" y="28"/>
                  </a:lnTo>
                  <a:lnTo>
                    <a:pt x="55" y="27"/>
                  </a:lnTo>
                  <a:lnTo>
                    <a:pt x="57" y="25"/>
                  </a:lnTo>
                  <a:lnTo>
                    <a:pt x="59" y="24"/>
                  </a:lnTo>
                  <a:lnTo>
                    <a:pt x="62" y="23"/>
                  </a:lnTo>
                  <a:lnTo>
                    <a:pt x="64" y="22"/>
                  </a:lnTo>
                  <a:lnTo>
                    <a:pt x="66" y="20"/>
                  </a:lnTo>
                  <a:lnTo>
                    <a:pt x="68" y="19"/>
                  </a:lnTo>
                  <a:lnTo>
                    <a:pt x="70" y="18"/>
                  </a:lnTo>
                  <a:lnTo>
                    <a:pt x="72" y="17"/>
                  </a:lnTo>
                  <a:lnTo>
                    <a:pt x="74" y="16"/>
                  </a:lnTo>
                  <a:lnTo>
                    <a:pt x="76" y="15"/>
                  </a:lnTo>
                  <a:lnTo>
                    <a:pt x="78" y="14"/>
                  </a:lnTo>
                  <a:lnTo>
                    <a:pt x="80" y="13"/>
                  </a:lnTo>
                  <a:lnTo>
                    <a:pt x="82" y="12"/>
                  </a:lnTo>
                  <a:lnTo>
                    <a:pt x="84" y="10"/>
                  </a:lnTo>
                  <a:lnTo>
                    <a:pt x="86" y="9"/>
                  </a:lnTo>
                  <a:lnTo>
                    <a:pt x="88" y="8"/>
                  </a:lnTo>
                  <a:lnTo>
                    <a:pt x="90" y="7"/>
                  </a:lnTo>
                  <a:lnTo>
                    <a:pt x="92" y="6"/>
                  </a:lnTo>
                  <a:lnTo>
                    <a:pt x="94" y="5"/>
                  </a:lnTo>
                  <a:lnTo>
                    <a:pt x="96" y="4"/>
                  </a:lnTo>
                  <a:lnTo>
                    <a:pt x="99" y="3"/>
                  </a:lnTo>
                  <a:lnTo>
                    <a:pt x="101" y="2"/>
                  </a:lnTo>
                  <a:lnTo>
                    <a:pt x="103" y="1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8" name="Freeform 87"/>
            <p:cNvSpPr>
              <a:spLocks/>
            </p:cNvSpPr>
            <p:nvPr/>
          </p:nvSpPr>
          <p:spPr bwMode="auto">
            <a:xfrm>
              <a:off x="6596757" y="4205019"/>
              <a:ext cx="272316" cy="105346"/>
            </a:xfrm>
            <a:custGeom>
              <a:avLst/>
              <a:gdLst>
                <a:gd name="T0" fmla="*/ 0 w 104"/>
                <a:gd name="T1" fmla="*/ 39 h 39"/>
                <a:gd name="T2" fmla="*/ 2 w 104"/>
                <a:gd name="T3" fmla="*/ 38 h 39"/>
                <a:gd name="T4" fmla="*/ 4 w 104"/>
                <a:gd name="T5" fmla="*/ 37 h 39"/>
                <a:gd name="T6" fmla="*/ 6 w 104"/>
                <a:gd name="T7" fmla="*/ 36 h 39"/>
                <a:gd name="T8" fmla="*/ 8 w 104"/>
                <a:gd name="T9" fmla="*/ 35 h 39"/>
                <a:gd name="T10" fmla="*/ 10 w 104"/>
                <a:gd name="T11" fmla="*/ 34 h 39"/>
                <a:gd name="T12" fmla="*/ 12 w 104"/>
                <a:gd name="T13" fmla="*/ 33 h 39"/>
                <a:gd name="T14" fmla="*/ 14 w 104"/>
                <a:gd name="T15" fmla="*/ 32 h 39"/>
                <a:gd name="T16" fmla="*/ 16 w 104"/>
                <a:gd name="T17" fmla="*/ 32 h 39"/>
                <a:gd name="T18" fmla="*/ 18 w 104"/>
                <a:gd name="T19" fmla="*/ 31 h 39"/>
                <a:gd name="T20" fmla="*/ 20 w 104"/>
                <a:gd name="T21" fmla="*/ 30 h 39"/>
                <a:gd name="T22" fmla="*/ 22 w 104"/>
                <a:gd name="T23" fmla="*/ 29 h 39"/>
                <a:gd name="T24" fmla="*/ 24 w 104"/>
                <a:gd name="T25" fmla="*/ 28 h 39"/>
                <a:gd name="T26" fmla="*/ 26 w 104"/>
                <a:gd name="T27" fmla="*/ 27 h 39"/>
                <a:gd name="T28" fmla="*/ 28 w 104"/>
                <a:gd name="T29" fmla="*/ 26 h 39"/>
                <a:gd name="T30" fmla="*/ 30 w 104"/>
                <a:gd name="T31" fmla="*/ 25 h 39"/>
                <a:gd name="T32" fmla="*/ 33 w 104"/>
                <a:gd name="T33" fmla="*/ 24 h 39"/>
                <a:gd name="T34" fmla="*/ 35 w 104"/>
                <a:gd name="T35" fmla="*/ 24 h 39"/>
                <a:gd name="T36" fmla="*/ 37 w 104"/>
                <a:gd name="T37" fmla="*/ 23 h 39"/>
                <a:gd name="T38" fmla="*/ 39 w 104"/>
                <a:gd name="T39" fmla="*/ 22 h 39"/>
                <a:gd name="T40" fmla="*/ 41 w 104"/>
                <a:gd name="T41" fmla="*/ 21 h 39"/>
                <a:gd name="T42" fmla="*/ 43 w 104"/>
                <a:gd name="T43" fmla="*/ 20 h 39"/>
                <a:gd name="T44" fmla="*/ 45 w 104"/>
                <a:gd name="T45" fmla="*/ 20 h 39"/>
                <a:gd name="T46" fmla="*/ 47 w 104"/>
                <a:gd name="T47" fmla="*/ 19 h 39"/>
                <a:gd name="T48" fmla="*/ 49 w 104"/>
                <a:gd name="T49" fmla="*/ 18 h 39"/>
                <a:gd name="T50" fmla="*/ 51 w 104"/>
                <a:gd name="T51" fmla="*/ 17 h 39"/>
                <a:gd name="T52" fmla="*/ 53 w 104"/>
                <a:gd name="T53" fmla="*/ 16 h 39"/>
                <a:gd name="T54" fmla="*/ 55 w 104"/>
                <a:gd name="T55" fmla="*/ 16 h 39"/>
                <a:gd name="T56" fmla="*/ 57 w 104"/>
                <a:gd name="T57" fmla="*/ 15 h 39"/>
                <a:gd name="T58" fmla="*/ 59 w 104"/>
                <a:gd name="T59" fmla="*/ 14 h 39"/>
                <a:gd name="T60" fmla="*/ 61 w 104"/>
                <a:gd name="T61" fmla="*/ 13 h 39"/>
                <a:gd name="T62" fmla="*/ 63 w 104"/>
                <a:gd name="T63" fmla="*/ 13 h 39"/>
                <a:gd name="T64" fmla="*/ 65 w 104"/>
                <a:gd name="T65" fmla="*/ 12 h 39"/>
                <a:gd name="T66" fmla="*/ 67 w 104"/>
                <a:gd name="T67" fmla="*/ 11 h 39"/>
                <a:gd name="T68" fmla="*/ 70 w 104"/>
                <a:gd name="T69" fmla="*/ 11 h 39"/>
                <a:gd name="T70" fmla="*/ 72 w 104"/>
                <a:gd name="T71" fmla="*/ 10 h 39"/>
                <a:gd name="T72" fmla="*/ 74 w 104"/>
                <a:gd name="T73" fmla="*/ 9 h 39"/>
                <a:gd name="T74" fmla="*/ 76 w 104"/>
                <a:gd name="T75" fmla="*/ 9 h 39"/>
                <a:gd name="T76" fmla="*/ 78 w 104"/>
                <a:gd name="T77" fmla="*/ 8 h 39"/>
                <a:gd name="T78" fmla="*/ 80 w 104"/>
                <a:gd name="T79" fmla="*/ 7 h 39"/>
                <a:gd name="T80" fmla="*/ 82 w 104"/>
                <a:gd name="T81" fmla="*/ 6 h 39"/>
                <a:gd name="T82" fmla="*/ 84 w 104"/>
                <a:gd name="T83" fmla="*/ 6 h 39"/>
                <a:gd name="T84" fmla="*/ 86 w 104"/>
                <a:gd name="T85" fmla="*/ 5 h 39"/>
                <a:gd name="T86" fmla="*/ 88 w 104"/>
                <a:gd name="T87" fmla="*/ 5 h 39"/>
                <a:gd name="T88" fmla="*/ 90 w 104"/>
                <a:gd name="T89" fmla="*/ 4 h 39"/>
                <a:gd name="T90" fmla="*/ 92 w 104"/>
                <a:gd name="T91" fmla="*/ 3 h 39"/>
                <a:gd name="T92" fmla="*/ 94 w 104"/>
                <a:gd name="T93" fmla="*/ 3 h 39"/>
                <a:gd name="T94" fmla="*/ 96 w 104"/>
                <a:gd name="T95" fmla="*/ 2 h 39"/>
                <a:gd name="T96" fmla="*/ 98 w 104"/>
                <a:gd name="T97" fmla="*/ 1 h 39"/>
                <a:gd name="T98" fmla="*/ 100 w 104"/>
                <a:gd name="T99" fmla="*/ 1 h 39"/>
                <a:gd name="T100" fmla="*/ 102 w 104"/>
                <a:gd name="T101" fmla="*/ 0 h 39"/>
                <a:gd name="T102" fmla="*/ 104 w 104"/>
                <a:gd name="T10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4" h="39">
                  <a:moveTo>
                    <a:pt x="0" y="39"/>
                  </a:moveTo>
                  <a:lnTo>
                    <a:pt x="2" y="38"/>
                  </a:lnTo>
                  <a:lnTo>
                    <a:pt x="4" y="37"/>
                  </a:lnTo>
                  <a:lnTo>
                    <a:pt x="6" y="36"/>
                  </a:lnTo>
                  <a:lnTo>
                    <a:pt x="8" y="35"/>
                  </a:lnTo>
                  <a:lnTo>
                    <a:pt x="10" y="34"/>
                  </a:lnTo>
                  <a:lnTo>
                    <a:pt x="12" y="33"/>
                  </a:lnTo>
                  <a:lnTo>
                    <a:pt x="14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0" y="30"/>
                  </a:lnTo>
                  <a:lnTo>
                    <a:pt x="22" y="29"/>
                  </a:lnTo>
                  <a:lnTo>
                    <a:pt x="24" y="28"/>
                  </a:lnTo>
                  <a:lnTo>
                    <a:pt x="26" y="27"/>
                  </a:lnTo>
                  <a:lnTo>
                    <a:pt x="28" y="26"/>
                  </a:lnTo>
                  <a:lnTo>
                    <a:pt x="30" y="25"/>
                  </a:lnTo>
                  <a:lnTo>
                    <a:pt x="33" y="24"/>
                  </a:lnTo>
                  <a:lnTo>
                    <a:pt x="35" y="24"/>
                  </a:lnTo>
                  <a:lnTo>
                    <a:pt x="37" y="23"/>
                  </a:lnTo>
                  <a:lnTo>
                    <a:pt x="39" y="22"/>
                  </a:lnTo>
                  <a:lnTo>
                    <a:pt x="41" y="21"/>
                  </a:lnTo>
                  <a:lnTo>
                    <a:pt x="43" y="20"/>
                  </a:lnTo>
                  <a:lnTo>
                    <a:pt x="45" y="20"/>
                  </a:lnTo>
                  <a:lnTo>
                    <a:pt x="47" y="19"/>
                  </a:lnTo>
                  <a:lnTo>
                    <a:pt x="49" y="18"/>
                  </a:lnTo>
                  <a:lnTo>
                    <a:pt x="51" y="17"/>
                  </a:lnTo>
                  <a:lnTo>
                    <a:pt x="53" y="16"/>
                  </a:lnTo>
                  <a:lnTo>
                    <a:pt x="55" y="16"/>
                  </a:lnTo>
                  <a:lnTo>
                    <a:pt x="57" y="15"/>
                  </a:lnTo>
                  <a:lnTo>
                    <a:pt x="59" y="14"/>
                  </a:lnTo>
                  <a:lnTo>
                    <a:pt x="61" y="13"/>
                  </a:lnTo>
                  <a:lnTo>
                    <a:pt x="63" y="13"/>
                  </a:lnTo>
                  <a:lnTo>
                    <a:pt x="65" y="12"/>
                  </a:lnTo>
                  <a:lnTo>
                    <a:pt x="67" y="11"/>
                  </a:lnTo>
                  <a:lnTo>
                    <a:pt x="70" y="11"/>
                  </a:lnTo>
                  <a:lnTo>
                    <a:pt x="72" y="10"/>
                  </a:lnTo>
                  <a:lnTo>
                    <a:pt x="74" y="9"/>
                  </a:lnTo>
                  <a:lnTo>
                    <a:pt x="76" y="9"/>
                  </a:lnTo>
                  <a:lnTo>
                    <a:pt x="78" y="8"/>
                  </a:lnTo>
                  <a:lnTo>
                    <a:pt x="80" y="7"/>
                  </a:lnTo>
                  <a:lnTo>
                    <a:pt x="82" y="6"/>
                  </a:lnTo>
                  <a:lnTo>
                    <a:pt x="84" y="6"/>
                  </a:lnTo>
                  <a:lnTo>
                    <a:pt x="86" y="5"/>
                  </a:lnTo>
                  <a:lnTo>
                    <a:pt x="88" y="5"/>
                  </a:lnTo>
                  <a:lnTo>
                    <a:pt x="90" y="4"/>
                  </a:lnTo>
                  <a:lnTo>
                    <a:pt x="92" y="3"/>
                  </a:lnTo>
                  <a:lnTo>
                    <a:pt x="94" y="3"/>
                  </a:lnTo>
                  <a:lnTo>
                    <a:pt x="96" y="2"/>
                  </a:lnTo>
                  <a:lnTo>
                    <a:pt x="98" y="1"/>
                  </a:lnTo>
                  <a:lnTo>
                    <a:pt x="100" y="1"/>
                  </a:lnTo>
                  <a:lnTo>
                    <a:pt x="102" y="0"/>
                  </a:lnTo>
                  <a:lnTo>
                    <a:pt x="104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99" name="Freeform 88"/>
            <p:cNvSpPr>
              <a:spLocks/>
            </p:cNvSpPr>
            <p:nvPr/>
          </p:nvSpPr>
          <p:spPr bwMode="auto">
            <a:xfrm>
              <a:off x="6863837" y="4140190"/>
              <a:ext cx="277553" cy="64827"/>
            </a:xfrm>
            <a:custGeom>
              <a:avLst/>
              <a:gdLst>
                <a:gd name="T0" fmla="*/ 0 w 106"/>
                <a:gd name="T1" fmla="*/ 24 h 24"/>
                <a:gd name="T2" fmla="*/ 2 w 106"/>
                <a:gd name="T3" fmla="*/ 24 h 24"/>
                <a:gd name="T4" fmla="*/ 5 w 106"/>
                <a:gd name="T5" fmla="*/ 23 h 24"/>
                <a:gd name="T6" fmla="*/ 7 w 106"/>
                <a:gd name="T7" fmla="*/ 23 h 24"/>
                <a:gd name="T8" fmla="*/ 9 w 106"/>
                <a:gd name="T9" fmla="*/ 22 h 24"/>
                <a:gd name="T10" fmla="*/ 11 w 106"/>
                <a:gd name="T11" fmla="*/ 21 h 24"/>
                <a:gd name="T12" fmla="*/ 13 w 106"/>
                <a:gd name="T13" fmla="*/ 21 h 24"/>
                <a:gd name="T14" fmla="*/ 15 w 106"/>
                <a:gd name="T15" fmla="*/ 20 h 24"/>
                <a:gd name="T16" fmla="*/ 17 w 106"/>
                <a:gd name="T17" fmla="*/ 20 h 24"/>
                <a:gd name="T18" fmla="*/ 19 w 106"/>
                <a:gd name="T19" fmla="*/ 19 h 24"/>
                <a:gd name="T20" fmla="*/ 21 w 106"/>
                <a:gd name="T21" fmla="*/ 18 h 24"/>
                <a:gd name="T22" fmla="*/ 23 w 106"/>
                <a:gd name="T23" fmla="*/ 18 h 24"/>
                <a:gd name="T24" fmla="*/ 25 w 106"/>
                <a:gd name="T25" fmla="*/ 17 h 24"/>
                <a:gd name="T26" fmla="*/ 27 w 106"/>
                <a:gd name="T27" fmla="*/ 17 h 24"/>
                <a:gd name="T28" fmla="*/ 29 w 106"/>
                <a:gd name="T29" fmla="*/ 17 h 24"/>
                <a:gd name="T30" fmla="*/ 31 w 106"/>
                <a:gd name="T31" fmla="*/ 16 h 24"/>
                <a:gd name="T32" fmla="*/ 33 w 106"/>
                <a:gd name="T33" fmla="*/ 15 h 24"/>
                <a:gd name="T34" fmla="*/ 35 w 106"/>
                <a:gd name="T35" fmla="*/ 15 h 24"/>
                <a:gd name="T36" fmla="*/ 37 w 106"/>
                <a:gd name="T37" fmla="*/ 14 h 24"/>
                <a:gd name="T38" fmla="*/ 40 w 106"/>
                <a:gd name="T39" fmla="*/ 14 h 24"/>
                <a:gd name="T40" fmla="*/ 42 w 106"/>
                <a:gd name="T41" fmla="*/ 13 h 24"/>
                <a:gd name="T42" fmla="*/ 44 w 106"/>
                <a:gd name="T43" fmla="*/ 13 h 24"/>
                <a:gd name="T44" fmla="*/ 46 w 106"/>
                <a:gd name="T45" fmla="*/ 12 h 24"/>
                <a:gd name="T46" fmla="*/ 48 w 106"/>
                <a:gd name="T47" fmla="*/ 12 h 24"/>
                <a:gd name="T48" fmla="*/ 50 w 106"/>
                <a:gd name="T49" fmla="*/ 12 h 24"/>
                <a:gd name="T50" fmla="*/ 52 w 106"/>
                <a:gd name="T51" fmla="*/ 11 h 24"/>
                <a:gd name="T52" fmla="*/ 54 w 106"/>
                <a:gd name="T53" fmla="*/ 11 h 24"/>
                <a:gd name="T54" fmla="*/ 56 w 106"/>
                <a:gd name="T55" fmla="*/ 10 h 24"/>
                <a:gd name="T56" fmla="*/ 58 w 106"/>
                <a:gd name="T57" fmla="*/ 10 h 24"/>
                <a:gd name="T58" fmla="*/ 60 w 106"/>
                <a:gd name="T59" fmla="*/ 9 h 24"/>
                <a:gd name="T60" fmla="*/ 62 w 106"/>
                <a:gd name="T61" fmla="*/ 9 h 24"/>
                <a:gd name="T62" fmla="*/ 64 w 106"/>
                <a:gd name="T63" fmla="*/ 8 h 24"/>
                <a:gd name="T64" fmla="*/ 66 w 106"/>
                <a:gd name="T65" fmla="*/ 8 h 24"/>
                <a:gd name="T66" fmla="*/ 68 w 106"/>
                <a:gd name="T67" fmla="*/ 7 h 24"/>
                <a:gd name="T68" fmla="*/ 70 w 106"/>
                <a:gd name="T69" fmla="*/ 7 h 24"/>
                <a:gd name="T70" fmla="*/ 73 w 106"/>
                <a:gd name="T71" fmla="*/ 6 h 24"/>
                <a:gd name="T72" fmla="*/ 75 w 106"/>
                <a:gd name="T73" fmla="*/ 6 h 24"/>
                <a:gd name="T74" fmla="*/ 77 w 106"/>
                <a:gd name="T75" fmla="*/ 6 h 24"/>
                <a:gd name="T76" fmla="*/ 79 w 106"/>
                <a:gd name="T77" fmla="*/ 5 h 24"/>
                <a:gd name="T78" fmla="*/ 81 w 106"/>
                <a:gd name="T79" fmla="*/ 5 h 24"/>
                <a:gd name="T80" fmla="*/ 83 w 106"/>
                <a:gd name="T81" fmla="*/ 5 h 24"/>
                <a:gd name="T82" fmla="*/ 85 w 106"/>
                <a:gd name="T83" fmla="*/ 4 h 24"/>
                <a:gd name="T84" fmla="*/ 87 w 106"/>
                <a:gd name="T85" fmla="*/ 4 h 24"/>
                <a:gd name="T86" fmla="*/ 89 w 106"/>
                <a:gd name="T87" fmla="*/ 3 h 24"/>
                <a:gd name="T88" fmla="*/ 91 w 106"/>
                <a:gd name="T89" fmla="*/ 3 h 24"/>
                <a:gd name="T90" fmla="*/ 93 w 106"/>
                <a:gd name="T91" fmla="*/ 3 h 24"/>
                <a:gd name="T92" fmla="*/ 95 w 106"/>
                <a:gd name="T93" fmla="*/ 2 h 24"/>
                <a:gd name="T94" fmla="*/ 97 w 106"/>
                <a:gd name="T95" fmla="*/ 2 h 24"/>
                <a:gd name="T96" fmla="*/ 99 w 106"/>
                <a:gd name="T97" fmla="*/ 1 h 24"/>
                <a:gd name="T98" fmla="*/ 101 w 106"/>
                <a:gd name="T99" fmla="*/ 1 h 24"/>
                <a:gd name="T100" fmla="*/ 103 w 106"/>
                <a:gd name="T101" fmla="*/ 1 h 24"/>
                <a:gd name="T102" fmla="*/ 106 w 106"/>
                <a:gd name="T103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6" h="24">
                  <a:moveTo>
                    <a:pt x="0" y="24"/>
                  </a:moveTo>
                  <a:lnTo>
                    <a:pt x="2" y="24"/>
                  </a:lnTo>
                  <a:lnTo>
                    <a:pt x="5" y="23"/>
                  </a:lnTo>
                  <a:lnTo>
                    <a:pt x="7" y="23"/>
                  </a:lnTo>
                  <a:lnTo>
                    <a:pt x="9" y="22"/>
                  </a:lnTo>
                  <a:lnTo>
                    <a:pt x="11" y="21"/>
                  </a:lnTo>
                  <a:lnTo>
                    <a:pt x="13" y="21"/>
                  </a:lnTo>
                  <a:lnTo>
                    <a:pt x="15" y="20"/>
                  </a:lnTo>
                  <a:lnTo>
                    <a:pt x="17" y="20"/>
                  </a:lnTo>
                  <a:lnTo>
                    <a:pt x="19" y="19"/>
                  </a:lnTo>
                  <a:lnTo>
                    <a:pt x="21" y="18"/>
                  </a:lnTo>
                  <a:lnTo>
                    <a:pt x="23" y="18"/>
                  </a:lnTo>
                  <a:lnTo>
                    <a:pt x="25" y="17"/>
                  </a:lnTo>
                  <a:lnTo>
                    <a:pt x="27" y="17"/>
                  </a:lnTo>
                  <a:lnTo>
                    <a:pt x="29" y="17"/>
                  </a:lnTo>
                  <a:lnTo>
                    <a:pt x="31" y="16"/>
                  </a:lnTo>
                  <a:lnTo>
                    <a:pt x="33" y="15"/>
                  </a:lnTo>
                  <a:lnTo>
                    <a:pt x="35" y="15"/>
                  </a:lnTo>
                  <a:lnTo>
                    <a:pt x="37" y="14"/>
                  </a:lnTo>
                  <a:lnTo>
                    <a:pt x="40" y="14"/>
                  </a:lnTo>
                  <a:lnTo>
                    <a:pt x="42" y="13"/>
                  </a:lnTo>
                  <a:lnTo>
                    <a:pt x="44" y="13"/>
                  </a:lnTo>
                  <a:lnTo>
                    <a:pt x="46" y="12"/>
                  </a:lnTo>
                  <a:lnTo>
                    <a:pt x="48" y="12"/>
                  </a:lnTo>
                  <a:lnTo>
                    <a:pt x="50" y="12"/>
                  </a:lnTo>
                  <a:lnTo>
                    <a:pt x="52" y="11"/>
                  </a:lnTo>
                  <a:lnTo>
                    <a:pt x="54" y="11"/>
                  </a:lnTo>
                  <a:lnTo>
                    <a:pt x="56" y="10"/>
                  </a:lnTo>
                  <a:lnTo>
                    <a:pt x="58" y="10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4" y="8"/>
                  </a:lnTo>
                  <a:lnTo>
                    <a:pt x="66" y="8"/>
                  </a:lnTo>
                  <a:lnTo>
                    <a:pt x="68" y="7"/>
                  </a:lnTo>
                  <a:lnTo>
                    <a:pt x="70" y="7"/>
                  </a:lnTo>
                  <a:lnTo>
                    <a:pt x="73" y="6"/>
                  </a:lnTo>
                  <a:lnTo>
                    <a:pt x="75" y="6"/>
                  </a:lnTo>
                  <a:lnTo>
                    <a:pt x="77" y="6"/>
                  </a:lnTo>
                  <a:lnTo>
                    <a:pt x="79" y="5"/>
                  </a:lnTo>
                  <a:lnTo>
                    <a:pt x="81" y="5"/>
                  </a:lnTo>
                  <a:lnTo>
                    <a:pt x="83" y="5"/>
                  </a:lnTo>
                  <a:lnTo>
                    <a:pt x="85" y="4"/>
                  </a:lnTo>
                  <a:lnTo>
                    <a:pt x="87" y="4"/>
                  </a:lnTo>
                  <a:lnTo>
                    <a:pt x="89" y="3"/>
                  </a:lnTo>
                  <a:lnTo>
                    <a:pt x="91" y="3"/>
                  </a:lnTo>
                  <a:lnTo>
                    <a:pt x="93" y="3"/>
                  </a:lnTo>
                  <a:lnTo>
                    <a:pt x="95" y="2"/>
                  </a:lnTo>
                  <a:lnTo>
                    <a:pt x="97" y="2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3" y="1"/>
                  </a:lnTo>
                  <a:lnTo>
                    <a:pt x="106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0" name="Freeform 89"/>
            <p:cNvSpPr>
              <a:spLocks/>
            </p:cNvSpPr>
            <p:nvPr/>
          </p:nvSpPr>
          <p:spPr bwMode="auto">
            <a:xfrm>
              <a:off x="7133535" y="4102374"/>
              <a:ext cx="274935" cy="40518"/>
            </a:xfrm>
            <a:custGeom>
              <a:avLst/>
              <a:gdLst>
                <a:gd name="T0" fmla="*/ 0 w 105"/>
                <a:gd name="T1" fmla="*/ 15 h 15"/>
                <a:gd name="T2" fmla="*/ 3 w 105"/>
                <a:gd name="T3" fmla="*/ 14 h 15"/>
                <a:gd name="T4" fmla="*/ 5 w 105"/>
                <a:gd name="T5" fmla="*/ 14 h 15"/>
                <a:gd name="T6" fmla="*/ 7 w 105"/>
                <a:gd name="T7" fmla="*/ 14 h 15"/>
                <a:gd name="T8" fmla="*/ 9 w 105"/>
                <a:gd name="T9" fmla="*/ 13 h 15"/>
                <a:gd name="T10" fmla="*/ 11 w 105"/>
                <a:gd name="T11" fmla="*/ 13 h 15"/>
                <a:gd name="T12" fmla="*/ 13 w 105"/>
                <a:gd name="T13" fmla="*/ 13 h 15"/>
                <a:gd name="T14" fmla="*/ 15 w 105"/>
                <a:gd name="T15" fmla="*/ 12 h 15"/>
                <a:gd name="T16" fmla="*/ 17 w 105"/>
                <a:gd name="T17" fmla="*/ 12 h 15"/>
                <a:gd name="T18" fmla="*/ 19 w 105"/>
                <a:gd name="T19" fmla="*/ 12 h 15"/>
                <a:gd name="T20" fmla="*/ 21 w 105"/>
                <a:gd name="T21" fmla="*/ 11 h 15"/>
                <a:gd name="T22" fmla="*/ 23 w 105"/>
                <a:gd name="T23" fmla="*/ 11 h 15"/>
                <a:gd name="T24" fmla="*/ 25 w 105"/>
                <a:gd name="T25" fmla="*/ 11 h 15"/>
                <a:gd name="T26" fmla="*/ 27 w 105"/>
                <a:gd name="T27" fmla="*/ 10 h 15"/>
                <a:gd name="T28" fmla="*/ 29 w 105"/>
                <a:gd name="T29" fmla="*/ 10 h 15"/>
                <a:gd name="T30" fmla="*/ 31 w 105"/>
                <a:gd name="T31" fmla="*/ 10 h 15"/>
                <a:gd name="T32" fmla="*/ 33 w 105"/>
                <a:gd name="T33" fmla="*/ 9 h 15"/>
                <a:gd name="T34" fmla="*/ 36 w 105"/>
                <a:gd name="T35" fmla="*/ 9 h 15"/>
                <a:gd name="T36" fmla="*/ 38 w 105"/>
                <a:gd name="T37" fmla="*/ 9 h 15"/>
                <a:gd name="T38" fmla="*/ 40 w 105"/>
                <a:gd name="T39" fmla="*/ 8 h 15"/>
                <a:gd name="T40" fmla="*/ 42 w 105"/>
                <a:gd name="T41" fmla="*/ 8 h 15"/>
                <a:gd name="T42" fmla="*/ 44 w 105"/>
                <a:gd name="T43" fmla="*/ 8 h 15"/>
                <a:gd name="T44" fmla="*/ 46 w 105"/>
                <a:gd name="T45" fmla="*/ 8 h 15"/>
                <a:gd name="T46" fmla="*/ 48 w 105"/>
                <a:gd name="T47" fmla="*/ 7 h 15"/>
                <a:gd name="T48" fmla="*/ 50 w 105"/>
                <a:gd name="T49" fmla="*/ 7 h 15"/>
                <a:gd name="T50" fmla="*/ 52 w 105"/>
                <a:gd name="T51" fmla="*/ 7 h 15"/>
                <a:gd name="T52" fmla="*/ 54 w 105"/>
                <a:gd name="T53" fmla="*/ 6 h 15"/>
                <a:gd name="T54" fmla="*/ 56 w 105"/>
                <a:gd name="T55" fmla="*/ 6 h 15"/>
                <a:gd name="T56" fmla="*/ 58 w 105"/>
                <a:gd name="T57" fmla="*/ 6 h 15"/>
                <a:gd name="T58" fmla="*/ 60 w 105"/>
                <a:gd name="T59" fmla="*/ 6 h 15"/>
                <a:gd name="T60" fmla="*/ 62 w 105"/>
                <a:gd name="T61" fmla="*/ 5 h 15"/>
                <a:gd name="T62" fmla="*/ 64 w 105"/>
                <a:gd name="T63" fmla="*/ 5 h 15"/>
                <a:gd name="T64" fmla="*/ 66 w 105"/>
                <a:gd name="T65" fmla="*/ 5 h 15"/>
                <a:gd name="T66" fmla="*/ 68 w 105"/>
                <a:gd name="T67" fmla="*/ 4 h 15"/>
                <a:gd name="T68" fmla="*/ 70 w 105"/>
                <a:gd name="T69" fmla="*/ 4 h 15"/>
                <a:gd name="T70" fmla="*/ 72 w 105"/>
                <a:gd name="T71" fmla="*/ 4 h 15"/>
                <a:gd name="T72" fmla="*/ 75 w 105"/>
                <a:gd name="T73" fmla="*/ 4 h 15"/>
                <a:gd name="T74" fmla="*/ 77 w 105"/>
                <a:gd name="T75" fmla="*/ 3 h 15"/>
                <a:gd name="T76" fmla="*/ 79 w 105"/>
                <a:gd name="T77" fmla="*/ 3 h 15"/>
                <a:gd name="T78" fmla="*/ 81 w 105"/>
                <a:gd name="T79" fmla="*/ 3 h 15"/>
                <a:gd name="T80" fmla="*/ 83 w 105"/>
                <a:gd name="T81" fmla="*/ 3 h 15"/>
                <a:gd name="T82" fmla="*/ 85 w 105"/>
                <a:gd name="T83" fmla="*/ 2 h 15"/>
                <a:gd name="T84" fmla="*/ 87 w 105"/>
                <a:gd name="T85" fmla="*/ 2 h 15"/>
                <a:gd name="T86" fmla="*/ 89 w 105"/>
                <a:gd name="T87" fmla="*/ 2 h 15"/>
                <a:gd name="T88" fmla="*/ 91 w 105"/>
                <a:gd name="T89" fmla="*/ 2 h 15"/>
                <a:gd name="T90" fmla="*/ 93 w 105"/>
                <a:gd name="T91" fmla="*/ 2 h 15"/>
                <a:gd name="T92" fmla="*/ 95 w 105"/>
                <a:gd name="T93" fmla="*/ 1 h 15"/>
                <a:gd name="T94" fmla="*/ 97 w 105"/>
                <a:gd name="T95" fmla="*/ 1 h 15"/>
                <a:gd name="T96" fmla="*/ 99 w 105"/>
                <a:gd name="T97" fmla="*/ 1 h 15"/>
                <a:gd name="T98" fmla="*/ 101 w 105"/>
                <a:gd name="T99" fmla="*/ 1 h 15"/>
                <a:gd name="T100" fmla="*/ 103 w 105"/>
                <a:gd name="T101" fmla="*/ 0 h 15"/>
                <a:gd name="T102" fmla="*/ 105 w 105"/>
                <a:gd name="T10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15">
                  <a:moveTo>
                    <a:pt x="0" y="15"/>
                  </a:moveTo>
                  <a:lnTo>
                    <a:pt x="3" y="14"/>
                  </a:lnTo>
                  <a:lnTo>
                    <a:pt x="5" y="14"/>
                  </a:lnTo>
                  <a:lnTo>
                    <a:pt x="7" y="14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3" y="13"/>
                  </a:lnTo>
                  <a:lnTo>
                    <a:pt x="15" y="12"/>
                  </a:lnTo>
                  <a:lnTo>
                    <a:pt x="17" y="12"/>
                  </a:lnTo>
                  <a:lnTo>
                    <a:pt x="19" y="12"/>
                  </a:lnTo>
                  <a:lnTo>
                    <a:pt x="21" y="11"/>
                  </a:lnTo>
                  <a:lnTo>
                    <a:pt x="23" y="11"/>
                  </a:lnTo>
                  <a:lnTo>
                    <a:pt x="25" y="11"/>
                  </a:lnTo>
                  <a:lnTo>
                    <a:pt x="27" y="10"/>
                  </a:lnTo>
                  <a:lnTo>
                    <a:pt x="29" y="10"/>
                  </a:lnTo>
                  <a:lnTo>
                    <a:pt x="31" y="10"/>
                  </a:lnTo>
                  <a:lnTo>
                    <a:pt x="33" y="9"/>
                  </a:lnTo>
                  <a:lnTo>
                    <a:pt x="36" y="9"/>
                  </a:lnTo>
                  <a:lnTo>
                    <a:pt x="38" y="9"/>
                  </a:lnTo>
                  <a:lnTo>
                    <a:pt x="40" y="8"/>
                  </a:lnTo>
                  <a:lnTo>
                    <a:pt x="42" y="8"/>
                  </a:lnTo>
                  <a:lnTo>
                    <a:pt x="44" y="8"/>
                  </a:lnTo>
                  <a:lnTo>
                    <a:pt x="46" y="8"/>
                  </a:lnTo>
                  <a:lnTo>
                    <a:pt x="48" y="7"/>
                  </a:lnTo>
                  <a:lnTo>
                    <a:pt x="50" y="7"/>
                  </a:lnTo>
                  <a:lnTo>
                    <a:pt x="52" y="7"/>
                  </a:lnTo>
                  <a:lnTo>
                    <a:pt x="54" y="6"/>
                  </a:lnTo>
                  <a:lnTo>
                    <a:pt x="56" y="6"/>
                  </a:lnTo>
                  <a:lnTo>
                    <a:pt x="58" y="6"/>
                  </a:lnTo>
                  <a:lnTo>
                    <a:pt x="60" y="6"/>
                  </a:lnTo>
                  <a:lnTo>
                    <a:pt x="62" y="5"/>
                  </a:lnTo>
                  <a:lnTo>
                    <a:pt x="64" y="5"/>
                  </a:lnTo>
                  <a:lnTo>
                    <a:pt x="66" y="5"/>
                  </a:lnTo>
                  <a:lnTo>
                    <a:pt x="68" y="4"/>
                  </a:lnTo>
                  <a:lnTo>
                    <a:pt x="70" y="4"/>
                  </a:lnTo>
                  <a:lnTo>
                    <a:pt x="72" y="4"/>
                  </a:lnTo>
                  <a:lnTo>
                    <a:pt x="75" y="4"/>
                  </a:lnTo>
                  <a:lnTo>
                    <a:pt x="77" y="3"/>
                  </a:lnTo>
                  <a:lnTo>
                    <a:pt x="79" y="3"/>
                  </a:lnTo>
                  <a:lnTo>
                    <a:pt x="81" y="3"/>
                  </a:lnTo>
                  <a:lnTo>
                    <a:pt x="83" y="3"/>
                  </a:lnTo>
                  <a:lnTo>
                    <a:pt x="85" y="2"/>
                  </a:lnTo>
                  <a:lnTo>
                    <a:pt x="87" y="2"/>
                  </a:lnTo>
                  <a:lnTo>
                    <a:pt x="89" y="2"/>
                  </a:lnTo>
                  <a:lnTo>
                    <a:pt x="91" y="2"/>
                  </a:lnTo>
                  <a:lnTo>
                    <a:pt x="93" y="2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1" name="Freeform 90"/>
            <p:cNvSpPr>
              <a:spLocks/>
            </p:cNvSpPr>
            <p:nvPr/>
          </p:nvSpPr>
          <p:spPr bwMode="auto">
            <a:xfrm>
              <a:off x="7403233" y="4078064"/>
              <a:ext cx="274935" cy="24311"/>
            </a:xfrm>
            <a:custGeom>
              <a:avLst/>
              <a:gdLst>
                <a:gd name="T0" fmla="*/ 0 w 105"/>
                <a:gd name="T1" fmla="*/ 9 h 9"/>
                <a:gd name="T2" fmla="*/ 2 w 105"/>
                <a:gd name="T3" fmla="*/ 9 h 9"/>
                <a:gd name="T4" fmla="*/ 4 w 105"/>
                <a:gd name="T5" fmla="*/ 9 h 9"/>
                <a:gd name="T6" fmla="*/ 6 w 105"/>
                <a:gd name="T7" fmla="*/ 9 h 9"/>
                <a:gd name="T8" fmla="*/ 9 w 105"/>
                <a:gd name="T9" fmla="*/ 9 h 9"/>
                <a:gd name="T10" fmla="*/ 11 w 105"/>
                <a:gd name="T11" fmla="*/ 8 h 9"/>
                <a:gd name="T12" fmla="*/ 13 w 105"/>
                <a:gd name="T13" fmla="*/ 8 h 9"/>
                <a:gd name="T14" fmla="*/ 15 w 105"/>
                <a:gd name="T15" fmla="*/ 8 h 9"/>
                <a:gd name="T16" fmla="*/ 17 w 105"/>
                <a:gd name="T17" fmla="*/ 8 h 9"/>
                <a:gd name="T18" fmla="*/ 19 w 105"/>
                <a:gd name="T19" fmla="*/ 7 h 9"/>
                <a:gd name="T20" fmla="*/ 21 w 105"/>
                <a:gd name="T21" fmla="*/ 7 h 9"/>
                <a:gd name="T22" fmla="*/ 23 w 105"/>
                <a:gd name="T23" fmla="*/ 7 h 9"/>
                <a:gd name="T24" fmla="*/ 25 w 105"/>
                <a:gd name="T25" fmla="*/ 7 h 9"/>
                <a:gd name="T26" fmla="*/ 27 w 105"/>
                <a:gd name="T27" fmla="*/ 7 h 9"/>
                <a:gd name="T28" fmla="*/ 29 w 105"/>
                <a:gd name="T29" fmla="*/ 6 h 9"/>
                <a:gd name="T30" fmla="*/ 31 w 105"/>
                <a:gd name="T31" fmla="*/ 6 h 9"/>
                <a:gd name="T32" fmla="*/ 33 w 105"/>
                <a:gd name="T33" fmla="*/ 6 h 9"/>
                <a:gd name="T34" fmla="*/ 35 w 105"/>
                <a:gd name="T35" fmla="*/ 6 h 9"/>
                <a:gd name="T36" fmla="*/ 37 w 105"/>
                <a:gd name="T37" fmla="*/ 6 h 9"/>
                <a:gd name="T38" fmla="*/ 39 w 105"/>
                <a:gd name="T39" fmla="*/ 6 h 9"/>
                <a:gd name="T40" fmla="*/ 41 w 105"/>
                <a:gd name="T41" fmla="*/ 6 h 9"/>
                <a:gd name="T42" fmla="*/ 43 w 105"/>
                <a:gd name="T43" fmla="*/ 5 h 9"/>
                <a:gd name="T44" fmla="*/ 46 w 105"/>
                <a:gd name="T45" fmla="*/ 5 h 9"/>
                <a:gd name="T46" fmla="*/ 48 w 105"/>
                <a:gd name="T47" fmla="*/ 5 h 9"/>
                <a:gd name="T48" fmla="*/ 50 w 105"/>
                <a:gd name="T49" fmla="*/ 5 h 9"/>
                <a:gd name="T50" fmla="*/ 52 w 105"/>
                <a:gd name="T51" fmla="*/ 5 h 9"/>
                <a:gd name="T52" fmla="*/ 54 w 105"/>
                <a:gd name="T53" fmla="*/ 4 h 9"/>
                <a:gd name="T54" fmla="*/ 56 w 105"/>
                <a:gd name="T55" fmla="*/ 4 h 9"/>
                <a:gd name="T56" fmla="*/ 58 w 105"/>
                <a:gd name="T57" fmla="*/ 4 h 9"/>
                <a:gd name="T58" fmla="*/ 60 w 105"/>
                <a:gd name="T59" fmla="*/ 4 h 9"/>
                <a:gd name="T60" fmla="*/ 62 w 105"/>
                <a:gd name="T61" fmla="*/ 4 h 9"/>
                <a:gd name="T62" fmla="*/ 64 w 105"/>
                <a:gd name="T63" fmla="*/ 4 h 9"/>
                <a:gd name="T64" fmla="*/ 66 w 105"/>
                <a:gd name="T65" fmla="*/ 3 h 9"/>
                <a:gd name="T66" fmla="*/ 68 w 105"/>
                <a:gd name="T67" fmla="*/ 3 h 9"/>
                <a:gd name="T68" fmla="*/ 70 w 105"/>
                <a:gd name="T69" fmla="*/ 3 h 9"/>
                <a:gd name="T70" fmla="*/ 72 w 105"/>
                <a:gd name="T71" fmla="*/ 3 h 9"/>
                <a:gd name="T72" fmla="*/ 74 w 105"/>
                <a:gd name="T73" fmla="*/ 3 h 9"/>
                <a:gd name="T74" fmla="*/ 76 w 105"/>
                <a:gd name="T75" fmla="*/ 3 h 9"/>
                <a:gd name="T76" fmla="*/ 78 w 105"/>
                <a:gd name="T77" fmla="*/ 2 h 9"/>
                <a:gd name="T78" fmla="*/ 80 w 105"/>
                <a:gd name="T79" fmla="*/ 2 h 9"/>
                <a:gd name="T80" fmla="*/ 83 w 105"/>
                <a:gd name="T81" fmla="*/ 2 h 9"/>
                <a:gd name="T82" fmla="*/ 85 w 105"/>
                <a:gd name="T83" fmla="*/ 2 h 9"/>
                <a:gd name="T84" fmla="*/ 87 w 105"/>
                <a:gd name="T85" fmla="*/ 2 h 9"/>
                <a:gd name="T86" fmla="*/ 89 w 105"/>
                <a:gd name="T87" fmla="*/ 2 h 9"/>
                <a:gd name="T88" fmla="*/ 91 w 105"/>
                <a:gd name="T89" fmla="*/ 1 h 9"/>
                <a:gd name="T90" fmla="*/ 93 w 105"/>
                <a:gd name="T91" fmla="*/ 1 h 9"/>
                <a:gd name="T92" fmla="*/ 95 w 105"/>
                <a:gd name="T93" fmla="*/ 1 h 9"/>
                <a:gd name="T94" fmla="*/ 97 w 105"/>
                <a:gd name="T95" fmla="*/ 1 h 9"/>
                <a:gd name="T96" fmla="*/ 99 w 105"/>
                <a:gd name="T97" fmla="*/ 1 h 9"/>
                <a:gd name="T98" fmla="*/ 101 w 105"/>
                <a:gd name="T99" fmla="*/ 1 h 9"/>
                <a:gd name="T100" fmla="*/ 103 w 105"/>
                <a:gd name="T101" fmla="*/ 1 h 9"/>
                <a:gd name="T102" fmla="*/ 105 w 105"/>
                <a:gd name="T10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9">
                  <a:moveTo>
                    <a:pt x="0" y="9"/>
                  </a:moveTo>
                  <a:lnTo>
                    <a:pt x="2" y="9"/>
                  </a:lnTo>
                  <a:lnTo>
                    <a:pt x="4" y="9"/>
                  </a:lnTo>
                  <a:lnTo>
                    <a:pt x="6" y="9"/>
                  </a:lnTo>
                  <a:lnTo>
                    <a:pt x="9" y="9"/>
                  </a:lnTo>
                  <a:lnTo>
                    <a:pt x="11" y="8"/>
                  </a:lnTo>
                  <a:lnTo>
                    <a:pt x="13" y="8"/>
                  </a:lnTo>
                  <a:lnTo>
                    <a:pt x="15" y="8"/>
                  </a:lnTo>
                  <a:lnTo>
                    <a:pt x="17" y="8"/>
                  </a:lnTo>
                  <a:lnTo>
                    <a:pt x="19" y="7"/>
                  </a:lnTo>
                  <a:lnTo>
                    <a:pt x="21" y="7"/>
                  </a:lnTo>
                  <a:lnTo>
                    <a:pt x="23" y="7"/>
                  </a:lnTo>
                  <a:lnTo>
                    <a:pt x="25" y="7"/>
                  </a:lnTo>
                  <a:lnTo>
                    <a:pt x="27" y="7"/>
                  </a:lnTo>
                  <a:lnTo>
                    <a:pt x="29" y="6"/>
                  </a:lnTo>
                  <a:lnTo>
                    <a:pt x="31" y="6"/>
                  </a:lnTo>
                  <a:lnTo>
                    <a:pt x="33" y="6"/>
                  </a:lnTo>
                  <a:lnTo>
                    <a:pt x="35" y="6"/>
                  </a:lnTo>
                  <a:lnTo>
                    <a:pt x="37" y="6"/>
                  </a:lnTo>
                  <a:lnTo>
                    <a:pt x="39" y="6"/>
                  </a:lnTo>
                  <a:lnTo>
                    <a:pt x="41" y="6"/>
                  </a:lnTo>
                  <a:lnTo>
                    <a:pt x="43" y="5"/>
                  </a:lnTo>
                  <a:lnTo>
                    <a:pt x="46" y="5"/>
                  </a:lnTo>
                  <a:lnTo>
                    <a:pt x="48" y="5"/>
                  </a:lnTo>
                  <a:lnTo>
                    <a:pt x="50" y="5"/>
                  </a:lnTo>
                  <a:lnTo>
                    <a:pt x="52" y="5"/>
                  </a:lnTo>
                  <a:lnTo>
                    <a:pt x="54" y="4"/>
                  </a:lnTo>
                  <a:lnTo>
                    <a:pt x="56" y="4"/>
                  </a:lnTo>
                  <a:lnTo>
                    <a:pt x="58" y="4"/>
                  </a:lnTo>
                  <a:lnTo>
                    <a:pt x="60" y="4"/>
                  </a:lnTo>
                  <a:lnTo>
                    <a:pt x="62" y="4"/>
                  </a:lnTo>
                  <a:lnTo>
                    <a:pt x="64" y="4"/>
                  </a:lnTo>
                  <a:lnTo>
                    <a:pt x="66" y="3"/>
                  </a:lnTo>
                  <a:lnTo>
                    <a:pt x="68" y="3"/>
                  </a:lnTo>
                  <a:lnTo>
                    <a:pt x="70" y="3"/>
                  </a:lnTo>
                  <a:lnTo>
                    <a:pt x="72" y="3"/>
                  </a:lnTo>
                  <a:lnTo>
                    <a:pt x="74" y="3"/>
                  </a:lnTo>
                  <a:lnTo>
                    <a:pt x="76" y="3"/>
                  </a:lnTo>
                  <a:lnTo>
                    <a:pt x="78" y="2"/>
                  </a:lnTo>
                  <a:lnTo>
                    <a:pt x="80" y="2"/>
                  </a:lnTo>
                  <a:lnTo>
                    <a:pt x="83" y="2"/>
                  </a:lnTo>
                  <a:lnTo>
                    <a:pt x="85" y="2"/>
                  </a:lnTo>
                  <a:lnTo>
                    <a:pt x="87" y="2"/>
                  </a:lnTo>
                  <a:lnTo>
                    <a:pt x="89" y="2"/>
                  </a:lnTo>
                  <a:lnTo>
                    <a:pt x="91" y="1"/>
                  </a:lnTo>
                  <a:lnTo>
                    <a:pt x="93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9" y="1"/>
                  </a:lnTo>
                  <a:lnTo>
                    <a:pt x="101" y="1"/>
                  </a:lnTo>
                  <a:lnTo>
                    <a:pt x="103" y="1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2" name="Freeform 91"/>
            <p:cNvSpPr>
              <a:spLocks/>
            </p:cNvSpPr>
            <p:nvPr/>
          </p:nvSpPr>
          <p:spPr bwMode="auto">
            <a:xfrm>
              <a:off x="7672931" y="4064557"/>
              <a:ext cx="274935" cy="16207"/>
            </a:xfrm>
            <a:custGeom>
              <a:avLst/>
              <a:gdLst>
                <a:gd name="T0" fmla="*/ 0 w 105"/>
                <a:gd name="T1" fmla="*/ 6 h 6"/>
                <a:gd name="T2" fmla="*/ 2 w 105"/>
                <a:gd name="T3" fmla="*/ 5 h 6"/>
                <a:gd name="T4" fmla="*/ 4 w 105"/>
                <a:gd name="T5" fmla="*/ 5 h 6"/>
                <a:gd name="T6" fmla="*/ 6 w 105"/>
                <a:gd name="T7" fmla="*/ 5 h 6"/>
                <a:gd name="T8" fmla="*/ 8 w 105"/>
                <a:gd name="T9" fmla="*/ 5 h 6"/>
                <a:gd name="T10" fmla="*/ 10 w 105"/>
                <a:gd name="T11" fmla="*/ 5 h 6"/>
                <a:gd name="T12" fmla="*/ 12 w 105"/>
                <a:gd name="T13" fmla="*/ 5 h 6"/>
                <a:gd name="T14" fmla="*/ 14 w 105"/>
                <a:gd name="T15" fmla="*/ 5 h 6"/>
                <a:gd name="T16" fmla="*/ 17 w 105"/>
                <a:gd name="T17" fmla="*/ 5 h 6"/>
                <a:gd name="T18" fmla="*/ 19 w 105"/>
                <a:gd name="T19" fmla="*/ 5 h 6"/>
                <a:gd name="T20" fmla="*/ 21 w 105"/>
                <a:gd name="T21" fmla="*/ 5 h 6"/>
                <a:gd name="T22" fmla="*/ 23 w 105"/>
                <a:gd name="T23" fmla="*/ 4 h 6"/>
                <a:gd name="T24" fmla="*/ 25 w 105"/>
                <a:gd name="T25" fmla="*/ 4 h 6"/>
                <a:gd name="T26" fmla="*/ 27 w 105"/>
                <a:gd name="T27" fmla="*/ 4 h 6"/>
                <a:gd name="T28" fmla="*/ 29 w 105"/>
                <a:gd name="T29" fmla="*/ 4 h 6"/>
                <a:gd name="T30" fmla="*/ 31 w 105"/>
                <a:gd name="T31" fmla="*/ 4 h 6"/>
                <a:gd name="T32" fmla="*/ 33 w 105"/>
                <a:gd name="T33" fmla="*/ 4 h 6"/>
                <a:gd name="T34" fmla="*/ 35 w 105"/>
                <a:gd name="T35" fmla="*/ 4 h 6"/>
                <a:gd name="T36" fmla="*/ 37 w 105"/>
                <a:gd name="T37" fmla="*/ 4 h 6"/>
                <a:gd name="T38" fmla="*/ 39 w 105"/>
                <a:gd name="T39" fmla="*/ 3 h 6"/>
                <a:gd name="T40" fmla="*/ 41 w 105"/>
                <a:gd name="T41" fmla="*/ 3 h 6"/>
                <a:gd name="T42" fmla="*/ 43 w 105"/>
                <a:gd name="T43" fmla="*/ 3 h 6"/>
                <a:gd name="T44" fmla="*/ 45 w 105"/>
                <a:gd name="T45" fmla="*/ 3 h 6"/>
                <a:gd name="T46" fmla="*/ 47 w 105"/>
                <a:gd name="T47" fmla="*/ 3 h 6"/>
                <a:gd name="T48" fmla="*/ 49 w 105"/>
                <a:gd name="T49" fmla="*/ 3 h 6"/>
                <a:gd name="T50" fmla="*/ 51 w 105"/>
                <a:gd name="T51" fmla="*/ 3 h 6"/>
                <a:gd name="T52" fmla="*/ 54 w 105"/>
                <a:gd name="T53" fmla="*/ 3 h 6"/>
                <a:gd name="T54" fmla="*/ 56 w 105"/>
                <a:gd name="T55" fmla="*/ 3 h 6"/>
                <a:gd name="T56" fmla="*/ 58 w 105"/>
                <a:gd name="T57" fmla="*/ 2 h 6"/>
                <a:gd name="T58" fmla="*/ 60 w 105"/>
                <a:gd name="T59" fmla="*/ 2 h 6"/>
                <a:gd name="T60" fmla="*/ 62 w 105"/>
                <a:gd name="T61" fmla="*/ 2 h 6"/>
                <a:gd name="T62" fmla="*/ 64 w 105"/>
                <a:gd name="T63" fmla="*/ 2 h 6"/>
                <a:gd name="T64" fmla="*/ 66 w 105"/>
                <a:gd name="T65" fmla="*/ 2 h 6"/>
                <a:gd name="T66" fmla="*/ 68 w 105"/>
                <a:gd name="T67" fmla="*/ 2 h 6"/>
                <a:gd name="T68" fmla="*/ 70 w 105"/>
                <a:gd name="T69" fmla="*/ 2 h 6"/>
                <a:gd name="T70" fmla="*/ 72 w 105"/>
                <a:gd name="T71" fmla="*/ 2 h 6"/>
                <a:gd name="T72" fmla="*/ 74 w 105"/>
                <a:gd name="T73" fmla="*/ 2 h 6"/>
                <a:gd name="T74" fmla="*/ 76 w 105"/>
                <a:gd name="T75" fmla="*/ 2 h 6"/>
                <a:gd name="T76" fmla="*/ 78 w 105"/>
                <a:gd name="T77" fmla="*/ 1 h 6"/>
                <a:gd name="T78" fmla="*/ 80 w 105"/>
                <a:gd name="T79" fmla="*/ 1 h 6"/>
                <a:gd name="T80" fmla="*/ 82 w 105"/>
                <a:gd name="T81" fmla="*/ 1 h 6"/>
                <a:gd name="T82" fmla="*/ 84 w 105"/>
                <a:gd name="T83" fmla="*/ 1 h 6"/>
                <a:gd name="T84" fmla="*/ 86 w 105"/>
                <a:gd name="T85" fmla="*/ 1 h 6"/>
                <a:gd name="T86" fmla="*/ 88 w 105"/>
                <a:gd name="T87" fmla="*/ 1 h 6"/>
                <a:gd name="T88" fmla="*/ 91 w 105"/>
                <a:gd name="T89" fmla="*/ 1 h 6"/>
                <a:gd name="T90" fmla="*/ 93 w 105"/>
                <a:gd name="T91" fmla="*/ 1 h 6"/>
                <a:gd name="T92" fmla="*/ 95 w 105"/>
                <a:gd name="T93" fmla="*/ 1 h 6"/>
                <a:gd name="T94" fmla="*/ 97 w 105"/>
                <a:gd name="T95" fmla="*/ 1 h 6"/>
                <a:gd name="T96" fmla="*/ 99 w 105"/>
                <a:gd name="T97" fmla="*/ 1 h 6"/>
                <a:gd name="T98" fmla="*/ 101 w 105"/>
                <a:gd name="T99" fmla="*/ 0 h 6"/>
                <a:gd name="T100" fmla="*/ 103 w 105"/>
                <a:gd name="T101" fmla="*/ 0 h 6"/>
                <a:gd name="T102" fmla="*/ 105 w 105"/>
                <a:gd name="T10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6">
                  <a:moveTo>
                    <a:pt x="0" y="6"/>
                  </a:moveTo>
                  <a:lnTo>
                    <a:pt x="2" y="5"/>
                  </a:lnTo>
                  <a:lnTo>
                    <a:pt x="4" y="5"/>
                  </a:lnTo>
                  <a:lnTo>
                    <a:pt x="6" y="5"/>
                  </a:lnTo>
                  <a:lnTo>
                    <a:pt x="8" y="5"/>
                  </a:lnTo>
                  <a:lnTo>
                    <a:pt x="10" y="5"/>
                  </a:lnTo>
                  <a:lnTo>
                    <a:pt x="12" y="5"/>
                  </a:lnTo>
                  <a:lnTo>
                    <a:pt x="14" y="5"/>
                  </a:lnTo>
                  <a:lnTo>
                    <a:pt x="17" y="5"/>
                  </a:lnTo>
                  <a:lnTo>
                    <a:pt x="19" y="5"/>
                  </a:lnTo>
                  <a:lnTo>
                    <a:pt x="21" y="5"/>
                  </a:lnTo>
                  <a:lnTo>
                    <a:pt x="23" y="4"/>
                  </a:lnTo>
                  <a:lnTo>
                    <a:pt x="25" y="4"/>
                  </a:lnTo>
                  <a:lnTo>
                    <a:pt x="27" y="4"/>
                  </a:lnTo>
                  <a:lnTo>
                    <a:pt x="29" y="4"/>
                  </a:lnTo>
                  <a:lnTo>
                    <a:pt x="31" y="4"/>
                  </a:lnTo>
                  <a:lnTo>
                    <a:pt x="33" y="4"/>
                  </a:lnTo>
                  <a:lnTo>
                    <a:pt x="35" y="4"/>
                  </a:lnTo>
                  <a:lnTo>
                    <a:pt x="37" y="4"/>
                  </a:lnTo>
                  <a:lnTo>
                    <a:pt x="39" y="3"/>
                  </a:lnTo>
                  <a:lnTo>
                    <a:pt x="41" y="3"/>
                  </a:lnTo>
                  <a:lnTo>
                    <a:pt x="43" y="3"/>
                  </a:lnTo>
                  <a:lnTo>
                    <a:pt x="45" y="3"/>
                  </a:lnTo>
                  <a:lnTo>
                    <a:pt x="47" y="3"/>
                  </a:lnTo>
                  <a:lnTo>
                    <a:pt x="49" y="3"/>
                  </a:lnTo>
                  <a:lnTo>
                    <a:pt x="51" y="3"/>
                  </a:lnTo>
                  <a:lnTo>
                    <a:pt x="54" y="3"/>
                  </a:lnTo>
                  <a:lnTo>
                    <a:pt x="56" y="3"/>
                  </a:lnTo>
                  <a:lnTo>
                    <a:pt x="58" y="2"/>
                  </a:lnTo>
                  <a:lnTo>
                    <a:pt x="60" y="2"/>
                  </a:lnTo>
                  <a:lnTo>
                    <a:pt x="62" y="2"/>
                  </a:lnTo>
                  <a:lnTo>
                    <a:pt x="64" y="2"/>
                  </a:lnTo>
                  <a:lnTo>
                    <a:pt x="66" y="2"/>
                  </a:lnTo>
                  <a:lnTo>
                    <a:pt x="68" y="2"/>
                  </a:lnTo>
                  <a:lnTo>
                    <a:pt x="70" y="2"/>
                  </a:lnTo>
                  <a:lnTo>
                    <a:pt x="72" y="2"/>
                  </a:lnTo>
                  <a:lnTo>
                    <a:pt x="74" y="2"/>
                  </a:lnTo>
                  <a:lnTo>
                    <a:pt x="76" y="2"/>
                  </a:lnTo>
                  <a:lnTo>
                    <a:pt x="78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8" y="1"/>
                  </a:lnTo>
                  <a:lnTo>
                    <a:pt x="91" y="1"/>
                  </a:lnTo>
                  <a:lnTo>
                    <a:pt x="93" y="1"/>
                  </a:lnTo>
                  <a:lnTo>
                    <a:pt x="95" y="1"/>
                  </a:lnTo>
                  <a:lnTo>
                    <a:pt x="97" y="1"/>
                  </a:lnTo>
                  <a:lnTo>
                    <a:pt x="99" y="1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3" name="Freeform 92"/>
            <p:cNvSpPr>
              <a:spLocks/>
            </p:cNvSpPr>
            <p:nvPr/>
          </p:nvSpPr>
          <p:spPr bwMode="auto">
            <a:xfrm>
              <a:off x="7942628" y="4056456"/>
              <a:ext cx="274935" cy="8104"/>
            </a:xfrm>
            <a:custGeom>
              <a:avLst/>
              <a:gdLst>
                <a:gd name="T0" fmla="*/ 0 w 105"/>
                <a:gd name="T1" fmla="*/ 3 h 3"/>
                <a:gd name="T2" fmla="*/ 2 w 105"/>
                <a:gd name="T3" fmla="*/ 3 h 3"/>
                <a:gd name="T4" fmla="*/ 4 w 105"/>
                <a:gd name="T5" fmla="*/ 3 h 3"/>
                <a:gd name="T6" fmla="*/ 6 w 105"/>
                <a:gd name="T7" fmla="*/ 3 h 3"/>
                <a:gd name="T8" fmla="*/ 8 w 105"/>
                <a:gd name="T9" fmla="*/ 3 h 3"/>
                <a:gd name="T10" fmla="*/ 10 w 105"/>
                <a:gd name="T11" fmla="*/ 3 h 3"/>
                <a:gd name="T12" fmla="*/ 12 w 105"/>
                <a:gd name="T13" fmla="*/ 3 h 3"/>
                <a:gd name="T14" fmla="*/ 14 w 105"/>
                <a:gd name="T15" fmla="*/ 3 h 3"/>
                <a:gd name="T16" fmla="*/ 16 w 105"/>
                <a:gd name="T17" fmla="*/ 3 h 3"/>
                <a:gd name="T18" fmla="*/ 18 w 105"/>
                <a:gd name="T19" fmla="*/ 3 h 3"/>
                <a:gd name="T20" fmla="*/ 21 w 105"/>
                <a:gd name="T21" fmla="*/ 3 h 3"/>
                <a:gd name="T22" fmla="*/ 23 w 105"/>
                <a:gd name="T23" fmla="*/ 2 h 3"/>
                <a:gd name="T24" fmla="*/ 25 w 105"/>
                <a:gd name="T25" fmla="*/ 2 h 3"/>
                <a:gd name="T26" fmla="*/ 27 w 105"/>
                <a:gd name="T27" fmla="*/ 2 h 3"/>
                <a:gd name="T28" fmla="*/ 29 w 105"/>
                <a:gd name="T29" fmla="*/ 2 h 3"/>
                <a:gd name="T30" fmla="*/ 31 w 105"/>
                <a:gd name="T31" fmla="*/ 2 h 3"/>
                <a:gd name="T32" fmla="*/ 33 w 105"/>
                <a:gd name="T33" fmla="*/ 2 h 3"/>
                <a:gd name="T34" fmla="*/ 35 w 105"/>
                <a:gd name="T35" fmla="*/ 2 h 3"/>
                <a:gd name="T36" fmla="*/ 37 w 105"/>
                <a:gd name="T37" fmla="*/ 2 h 3"/>
                <a:gd name="T38" fmla="*/ 39 w 105"/>
                <a:gd name="T39" fmla="*/ 2 h 3"/>
                <a:gd name="T40" fmla="*/ 41 w 105"/>
                <a:gd name="T41" fmla="*/ 2 h 3"/>
                <a:gd name="T42" fmla="*/ 43 w 105"/>
                <a:gd name="T43" fmla="*/ 2 h 3"/>
                <a:gd name="T44" fmla="*/ 45 w 105"/>
                <a:gd name="T45" fmla="*/ 2 h 3"/>
                <a:gd name="T46" fmla="*/ 47 w 105"/>
                <a:gd name="T47" fmla="*/ 2 h 3"/>
                <a:gd name="T48" fmla="*/ 49 w 105"/>
                <a:gd name="T49" fmla="*/ 2 h 3"/>
                <a:gd name="T50" fmla="*/ 51 w 105"/>
                <a:gd name="T51" fmla="*/ 2 h 3"/>
                <a:gd name="T52" fmla="*/ 54 w 105"/>
                <a:gd name="T53" fmla="*/ 2 h 3"/>
                <a:gd name="T54" fmla="*/ 56 w 105"/>
                <a:gd name="T55" fmla="*/ 2 h 3"/>
                <a:gd name="T56" fmla="*/ 58 w 105"/>
                <a:gd name="T57" fmla="*/ 2 h 3"/>
                <a:gd name="T58" fmla="*/ 60 w 105"/>
                <a:gd name="T59" fmla="*/ 2 h 3"/>
                <a:gd name="T60" fmla="*/ 62 w 105"/>
                <a:gd name="T61" fmla="*/ 1 h 3"/>
                <a:gd name="T62" fmla="*/ 64 w 105"/>
                <a:gd name="T63" fmla="*/ 1 h 3"/>
                <a:gd name="T64" fmla="*/ 66 w 105"/>
                <a:gd name="T65" fmla="*/ 1 h 3"/>
                <a:gd name="T66" fmla="*/ 68 w 105"/>
                <a:gd name="T67" fmla="*/ 1 h 3"/>
                <a:gd name="T68" fmla="*/ 70 w 105"/>
                <a:gd name="T69" fmla="*/ 1 h 3"/>
                <a:gd name="T70" fmla="*/ 72 w 105"/>
                <a:gd name="T71" fmla="*/ 1 h 3"/>
                <a:gd name="T72" fmla="*/ 74 w 105"/>
                <a:gd name="T73" fmla="*/ 1 h 3"/>
                <a:gd name="T74" fmla="*/ 76 w 105"/>
                <a:gd name="T75" fmla="*/ 1 h 3"/>
                <a:gd name="T76" fmla="*/ 78 w 105"/>
                <a:gd name="T77" fmla="*/ 1 h 3"/>
                <a:gd name="T78" fmla="*/ 80 w 105"/>
                <a:gd name="T79" fmla="*/ 1 h 3"/>
                <a:gd name="T80" fmla="*/ 82 w 105"/>
                <a:gd name="T81" fmla="*/ 1 h 3"/>
                <a:gd name="T82" fmla="*/ 84 w 105"/>
                <a:gd name="T83" fmla="*/ 1 h 3"/>
                <a:gd name="T84" fmla="*/ 87 w 105"/>
                <a:gd name="T85" fmla="*/ 1 h 3"/>
                <a:gd name="T86" fmla="*/ 89 w 105"/>
                <a:gd name="T87" fmla="*/ 1 h 3"/>
                <a:gd name="T88" fmla="*/ 91 w 105"/>
                <a:gd name="T89" fmla="*/ 1 h 3"/>
                <a:gd name="T90" fmla="*/ 93 w 105"/>
                <a:gd name="T91" fmla="*/ 1 h 3"/>
                <a:gd name="T92" fmla="*/ 95 w 105"/>
                <a:gd name="T93" fmla="*/ 1 h 3"/>
                <a:gd name="T94" fmla="*/ 97 w 105"/>
                <a:gd name="T95" fmla="*/ 0 h 3"/>
                <a:gd name="T96" fmla="*/ 99 w 105"/>
                <a:gd name="T97" fmla="*/ 0 h 3"/>
                <a:gd name="T98" fmla="*/ 101 w 105"/>
                <a:gd name="T99" fmla="*/ 0 h 3"/>
                <a:gd name="T100" fmla="*/ 103 w 105"/>
                <a:gd name="T101" fmla="*/ 0 h 3"/>
                <a:gd name="T102" fmla="*/ 105 w 105"/>
                <a:gd name="T10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3">
                  <a:moveTo>
                    <a:pt x="0" y="3"/>
                  </a:moveTo>
                  <a:lnTo>
                    <a:pt x="2" y="3"/>
                  </a:lnTo>
                  <a:lnTo>
                    <a:pt x="4" y="3"/>
                  </a:lnTo>
                  <a:lnTo>
                    <a:pt x="6" y="3"/>
                  </a:lnTo>
                  <a:lnTo>
                    <a:pt x="8" y="3"/>
                  </a:lnTo>
                  <a:lnTo>
                    <a:pt x="10" y="3"/>
                  </a:lnTo>
                  <a:lnTo>
                    <a:pt x="12" y="3"/>
                  </a:lnTo>
                  <a:lnTo>
                    <a:pt x="14" y="3"/>
                  </a:lnTo>
                  <a:lnTo>
                    <a:pt x="16" y="3"/>
                  </a:lnTo>
                  <a:lnTo>
                    <a:pt x="18" y="3"/>
                  </a:lnTo>
                  <a:lnTo>
                    <a:pt x="21" y="3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7" y="2"/>
                  </a:lnTo>
                  <a:lnTo>
                    <a:pt x="39" y="2"/>
                  </a:lnTo>
                  <a:lnTo>
                    <a:pt x="41" y="2"/>
                  </a:lnTo>
                  <a:lnTo>
                    <a:pt x="43" y="2"/>
                  </a:lnTo>
                  <a:lnTo>
                    <a:pt x="45" y="2"/>
                  </a:lnTo>
                  <a:lnTo>
                    <a:pt x="47" y="2"/>
                  </a:lnTo>
                  <a:lnTo>
                    <a:pt x="49" y="2"/>
                  </a:lnTo>
                  <a:lnTo>
                    <a:pt x="51" y="2"/>
                  </a:lnTo>
                  <a:lnTo>
                    <a:pt x="54" y="2"/>
                  </a:lnTo>
                  <a:lnTo>
                    <a:pt x="56" y="2"/>
                  </a:lnTo>
                  <a:lnTo>
                    <a:pt x="58" y="2"/>
                  </a:lnTo>
                  <a:lnTo>
                    <a:pt x="60" y="2"/>
                  </a:lnTo>
                  <a:lnTo>
                    <a:pt x="62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4" y="1"/>
                  </a:lnTo>
                  <a:lnTo>
                    <a:pt x="87" y="1"/>
                  </a:lnTo>
                  <a:lnTo>
                    <a:pt x="89" y="1"/>
                  </a:lnTo>
                  <a:lnTo>
                    <a:pt x="91" y="1"/>
                  </a:lnTo>
                  <a:lnTo>
                    <a:pt x="93" y="1"/>
                  </a:lnTo>
                  <a:lnTo>
                    <a:pt x="95" y="1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4" name="Freeform 93"/>
            <p:cNvSpPr>
              <a:spLocks/>
            </p:cNvSpPr>
            <p:nvPr/>
          </p:nvSpPr>
          <p:spPr bwMode="auto">
            <a:xfrm>
              <a:off x="8212326" y="4051053"/>
              <a:ext cx="274935" cy="5403"/>
            </a:xfrm>
            <a:custGeom>
              <a:avLst/>
              <a:gdLst>
                <a:gd name="T0" fmla="*/ 0 w 105"/>
                <a:gd name="T1" fmla="*/ 2 h 2"/>
                <a:gd name="T2" fmla="*/ 2 w 105"/>
                <a:gd name="T3" fmla="*/ 2 h 2"/>
                <a:gd name="T4" fmla="*/ 4 w 105"/>
                <a:gd name="T5" fmla="*/ 2 h 2"/>
                <a:gd name="T6" fmla="*/ 6 w 105"/>
                <a:gd name="T7" fmla="*/ 2 h 2"/>
                <a:gd name="T8" fmla="*/ 8 w 105"/>
                <a:gd name="T9" fmla="*/ 2 h 2"/>
                <a:gd name="T10" fmla="*/ 10 w 105"/>
                <a:gd name="T11" fmla="*/ 2 h 2"/>
                <a:gd name="T12" fmla="*/ 12 w 105"/>
                <a:gd name="T13" fmla="*/ 2 h 2"/>
                <a:gd name="T14" fmla="*/ 14 w 105"/>
                <a:gd name="T15" fmla="*/ 2 h 2"/>
                <a:gd name="T16" fmla="*/ 16 w 105"/>
                <a:gd name="T17" fmla="*/ 2 h 2"/>
                <a:gd name="T18" fmla="*/ 19 w 105"/>
                <a:gd name="T19" fmla="*/ 2 h 2"/>
                <a:gd name="T20" fmla="*/ 21 w 105"/>
                <a:gd name="T21" fmla="*/ 2 h 2"/>
                <a:gd name="T22" fmla="*/ 23 w 105"/>
                <a:gd name="T23" fmla="*/ 2 h 2"/>
                <a:gd name="T24" fmla="*/ 25 w 105"/>
                <a:gd name="T25" fmla="*/ 2 h 2"/>
                <a:gd name="T26" fmla="*/ 27 w 105"/>
                <a:gd name="T27" fmla="*/ 2 h 2"/>
                <a:gd name="T28" fmla="*/ 29 w 105"/>
                <a:gd name="T29" fmla="*/ 2 h 2"/>
                <a:gd name="T30" fmla="*/ 31 w 105"/>
                <a:gd name="T31" fmla="*/ 2 h 2"/>
                <a:gd name="T32" fmla="*/ 33 w 105"/>
                <a:gd name="T33" fmla="*/ 2 h 2"/>
                <a:gd name="T34" fmla="*/ 35 w 105"/>
                <a:gd name="T35" fmla="*/ 2 h 2"/>
                <a:gd name="T36" fmla="*/ 37 w 105"/>
                <a:gd name="T37" fmla="*/ 1 h 2"/>
                <a:gd name="T38" fmla="*/ 39 w 105"/>
                <a:gd name="T39" fmla="*/ 1 h 2"/>
                <a:gd name="T40" fmla="*/ 41 w 105"/>
                <a:gd name="T41" fmla="*/ 1 h 2"/>
                <a:gd name="T42" fmla="*/ 43 w 105"/>
                <a:gd name="T43" fmla="*/ 1 h 2"/>
                <a:gd name="T44" fmla="*/ 45 w 105"/>
                <a:gd name="T45" fmla="*/ 1 h 2"/>
                <a:gd name="T46" fmla="*/ 47 w 105"/>
                <a:gd name="T47" fmla="*/ 1 h 2"/>
                <a:gd name="T48" fmla="*/ 49 w 105"/>
                <a:gd name="T49" fmla="*/ 1 h 2"/>
                <a:gd name="T50" fmla="*/ 51 w 105"/>
                <a:gd name="T51" fmla="*/ 1 h 2"/>
                <a:gd name="T52" fmla="*/ 53 w 105"/>
                <a:gd name="T53" fmla="*/ 1 h 2"/>
                <a:gd name="T54" fmla="*/ 56 w 105"/>
                <a:gd name="T55" fmla="*/ 1 h 2"/>
                <a:gd name="T56" fmla="*/ 58 w 105"/>
                <a:gd name="T57" fmla="*/ 1 h 2"/>
                <a:gd name="T58" fmla="*/ 60 w 105"/>
                <a:gd name="T59" fmla="*/ 1 h 2"/>
                <a:gd name="T60" fmla="*/ 62 w 105"/>
                <a:gd name="T61" fmla="*/ 1 h 2"/>
                <a:gd name="T62" fmla="*/ 64 w 105"/>
                <a:gd name="T63" fmla="*/ 1 h 2"/>
                <a:gd name="T64" fmla="*/ 66 w 105"/>
                <a:gd name="T65" fmla="*/ 1 h 2"/>
                <a:gd name="T66" fmla="*/ 68 w 105"/>
                <a:gd name="T67" fmla="*/ 1 h 2"/>
                <a:gd name="T68" fmla="*/ 70 w 105"/>
                <a:gd name="T69" fmla="*/ 1 h 2"/>
                <a:gd name="T70" fmla="*/ 72 w 105"/>
                <a:gd name="T71" fmla="*/ 1 h 2"/>
                <a:gd name="T72" fmla="*/ 74 w 105"/>
                <a:gd name="T73" fmla="*/ 1 h 2"/>
                <a:gd name="T74" fmla="*/ 76 w 105"/>
                <a:gd name="T75" fmla="*/ 1 h 2"/>
                <a:gd name="T76" fmla="*/ 78 w 105"/>
                <a:gd name="T77" fmla="*/ 1 h 2"/>
                <a:gd name="T78" fmla="*/ 80 w 105"/>
                <a:gd name="T79" fmla="*/ 1 h 2"/>
                <a:gd name="T80" fmla="*/ 82 w 105"/>
                <a:gd name="T81" fmla="*/ 1 h 2"/>
                <a:gd name="T82" fmla="*/ 84 w 105"/>
                <a:gd name="T83" fmla="*/ 1 h 2"/>
                <a:gd name="T84" fmla="*/ 86 w 105"/>
                <a:gd name="T85" fmla="*/ 1 h 2"/>
                <a:gd name="T86" fmla="*/ 88 w 105"/>
                <a:gd name="T87" fmla="*/ 1 h 2"/>
                <a:gd name="T88" fmla="*/ 90 w 105"/>
                <a:gd name="T89" fmla="*/ 0 h 2"/>
                <a:gd name="T90" fmla="*/ 93 w 105"/>
                <a:gd name="T91" fmla="*/ 0 h 2"/>
                <a:gd name="T92" fmla="*/ 95 w 105"/>
                <a:gd name="T93" fmla="*/ 0 h 2"/>
                <a:gd name="T94" fmla="*/ 97 w 105"/>
                <a:gd name="T95" fmla="*/ 0 h 2"/>
                <a:gd name="T96" fmla="*/ 99 w 105"/>
                <a:gd name="T97" fmla="*/ 0 h 2"/>
                <a:gd name="T98" fmla="*/ 101 w 105"/>
                <a:gd name="T99" fmla="*/ 0 h 2"/>
                <a:gd name="T100" fmla="*/ 103 w 105"/>
                <a:gd name="T101" fmla="*/ 0 h 2"/>
                <a:gd name="T102" fmla="*/ 105 w 105"/>
                <a:gd name="T10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2">
                  <a:moveTo>
                    <a:pt x="0" y="2"/>
                  </a:moveTo>
                  <a:lnTo>
                    <a:pt x="2" y="2"/>
                  </a:lnTo>
                  <a:lnTo>
                    <a:pt x="4" y="2"/>
                  </a:lnTo>
                  <a:lnTo>
                    <a:pt x="6" y="2"/>
                  </a:lnTo>
                  <a:lnTo>
                    <a:pt x="8" y="2"/>
                  </a:lnTo>
                  <a:lnTo>
                    <a:pt x="10" y="2"/>
                  </a:lnTo>
                  <a:lnTo>
                    <a:pt x="12" y="2"/>
                  </a:lnTo>
                  <a:lnTo>
                    <a:pt x="14" y="2"/>
                  </a:lnTo>
                  <a:lnTo>
                    <a:pt x="16" y="2"/>
                  </a:lnTo>
                  <a:lnTo>
                    <a:pt x="19" y="2"/>
                  </a:lnTo>
                  <a:lnTo>
                    <a:pt x="21" y="2"/>
                  </a:lnTo>
                  <a:lnTo>
                    <a:pt x="23" y="2"/>
                  </a:lnTo>
                  <a:lnTo>
                    <a:pt x="25" y="2"/>
                  </a:lnTo>
                  <a:lnTo>
                    <a:pt x="27" y="2"/>
                  </a:lnTo>
                  <a:lnTo>
                    <a:pt x="29" y="2"/>
                  </a:lnTo>
                  <a:lnTo>
                    <a:pt x="31" y="2"/>
                  </a:lnTo>
                  <a:lnTo>
                    <a:pt x="33" y="2"/>
                  </a:lnTo>
                  <a:lnTo>
                    <a:pt x="35" y="2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3" y="1"/>
                  </a:lnTo>
                  <a:lnTo>
                    <a:pt x="56" y="1"/>
                  </a:lnTo>
                  <a:lnTo>
                    <a:pt x="58" y="1"/>
                  </a:lnTo>
                  <a:lnTo>
                    <a:pt x="60" y="1"/>
                  </a:lnTo>
                  <a:lnTo>
                    <a:pt x="62" y="1"/>
                  </a:lnTo>
                  <a:lnTo>
                    <a:pt x="64" y="1"/>
                  </a:lnTo>
                  <a:lnTo>
                    <a:pt x="66" y="1"/>
                  </a:lnTo>
                  <a:lnTo>
                    <a:pt x="68" y="1"/>
                  </a:lnTo>
                  <a:lnTo>
                    <a:pt x="70" y="1"/>
                  </a:lnTo>
                  <a:lnTo>
                    <a:pt x="72" y="1"/>
                  </a:lnTo>
                  <a:lnTo>
                    <a:pt x="74" y="1"/>
                  </a:lnTo>
                  <a:lnTo>
                    <a:pt x="76" y="1"/>
                  </a:lnTo>
                  <a:lnTo>
                    <a:pt x="78" y="1"/>
                  </a:lnTo>
                  <a:lnTo>
                    <a:pt x="80" y="1"/>
                  </a:lnTo>
                  <a:lnTo>
                    <a:pt x="82" y="1"/>
                  </a:lnTo>
                  <a:lnTo>
                    <a:pt x="84" y="1"/>
                  </a:lnTo>
                  <a:lnTo>
                    <a:pt x="86" y="1"/>
                  </a:lnTo>
                  <a:lnTo>
                    <a:pt x="88" y="1"/>
                  </a:lnTo>
                  <a:lnTo>
                    <a:pt x="90" y="0"/>
                  </a:lnTo>
                  <a:lnTo>
                    <a:pt x="93" y="0"/>
                  </a:lnTo>
                  <a:lnTo>
                    <a:pt x="95" y="0"/>
                  </a:lnTo>
                  <a:lnTo>
                    <a:pt x="97" y="0"/>
                  </a:lnTo>
                  <a:lnTo>
                    <a:pt x="99" y="0"/>
                  </a:lnTo>
                  <a:lnTo>
                    <a:pt x="101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p:sp>
          <p:nvSpPr>
            <p:cNvPr id="105" name="Freeform 94"/>
            <p:cNvSpPr>
              <a:spLocks/>
            </p:cNvSpPr>
            <p:nvPr/>
          </p:nvSpPr>
          <p:spPr bwMode="auto">
            <a:xfrm>
              <a:off x="8482024" y="4048350"/>
              <a:ext cx="274935" cy="2702"/>
            </a:xfrm>
            <a:custGeom>
              <a:avLst/>
              <a:gdLst>
                <a:gd name="T0" fmla="*/ 0 w 105"/>
                <a:gd name="T1" fmla="*/ 1 h 1"/>
                <a:gd name="T2" fmla="*/ 2 w 105"/>
                <a:gd name="T3" fmla="*/ 1 h 1"/>
                <a:gd name="T4" fmla="*/ 4 w 105"/>
                <a:gd name="T5" fmla="*/ 1 h 1"/>
                <a:gd name="T6" fmla="*/ 6 w 105"/>
                <a:gd name="T7" fmla="*/ 1 h 1"/>
                <a:gd name="T8" fmla="*/ 8 w 105"/>
                <a:gd name="T9" fmla="*/ 1 h 1"/>
                <a:gd name="T10" fmla="*/ 10 w 105"/>
                <a:gd name="T11" fmla="*/ 1 h 1"/>
                <a:gd name="T12" fmla="*/ 12 w 105"/>
                <a:gd name="T13" fmla="*/ 1 h 1"/>
                <a:gd name="T14" fmla="*/ 14 w 105"/>
                <a:gd name="T15" fmla="*/ 1 h 1"/>
                <a:gd name="T16" fmla="*/ 16 w 105"/>
                <a:gd name="T17" fmla="*/ 1 h 1"/>
                <a:gd name="T18" fmla="*/ 18 w 105"/>
                <a:gd name="T19" fmla="*/ 1 h 1"/>
                <a:gd name="T20" fmla="*/ 20 w 105"/>
                <a:gd name="T21" fmla="*/ 1 h 1"/>
                <a:gd name="T22" fmla="*/ 22 w 105"/>
                <a:gd name="T23" fmla="*/ 1 h 1"/>
                <a:gd name="T24" fmla="*/ 24 w 105"/>
                <a:gd name="T25" fmla="*/ 1 h 1"/>
                <a:gd name="T26" fmla="*/ 26 w 105"/>
                <a:gd name="T27" fmla="*/ 1 h 1"/>
                <a:gd name="T28" fmla="*/ 29 w 105"/>
                <a:gd name="T29" fmla="*/ 1 h 1"/>
                <a:gd name="T30" fmla="*/ 31 w 105"/>
                <a:gd name="T31" fmla="*/ 1 h 1"/>
                <a:gd name="T32" fmla="*/ 33 w 105"/>
                <a:gd name="T33" fmla="*/ 1 h 1"/>
                <a:gd name="T34" fmla="*/ 35 w 105"/>
                <a:gd name="T35" fmla="*/ 1 h 1"/>
                <a:gd name="T36" fmla="*/ 37 w 105"/>
                <a:gd name="T37" fmla="*/ 1 h 1"/>
                <a:gd name="T38" fmla="*/ 39 w 105"/>
                <a:gd name="T39" fmla="*/ 1 h 1"/>
                <a:gd name="T40" fmla="*/ 41 w 105"/>
                <a:gd name="T41" fmla="*/ 1 h 1"/>
                <a:gd name="T42" fmla="*/ 43 w 105"/>
                <a:gd name="T43" fmla="*/ 1 h 1"/>
                <a:gd name="T44" fmla="*/ 45 w 105"/>
                <a:gd name="T45" fmla="*/ 1 h 1"/>
                <a:gd name="T46" fmla="*/ 47 w 105"/>
                <a:gd name="T47" fmla="*/ 1 h 1"/>
                <a:gd name="T48" fmla="*/ 49 w 105"/>
                <a:gd name="T49" fmla="*/ 1 h 1"/>
                <a:gd name="T50" fmla="*/ 51 w 105"/>
                <a:gd name="T51" fmla="*/ 1 h 1"/>
                <a:gd name="T52" fmla="*/ 53 w 105"/>
                <a:gd name="T53" fmla="*/ 1 h 1"/>
                <a:gd name="T54" fmla="*/ 55 w 105"/>
                <a:gd name="T55" fmla="*/ 1 h 1"/>
                <a:gd name="T56" fmla="*/ 57 w 105"/>
                <a:gd name="T57" fmla="*/ 1 h 1"/>
                <a:gd name="T58" fmla="*/ 59 w 105"/>
                <a:gd name="T59" fmla="*/ 0 h 1"/>
                <a:gd name="T60" fmla="*/ 61 w 105"/>
                <a:gd name="T61" fmla="*/ 0 h 1"/>
                <a:gd name="T62" fmla="*/ 63 w 105"/>
                <a:gd name="T63" fmla="*/ 0 h 1"/>
                <a:gd name="T64" fmla="*/ 66 w 105"/>
                <a:gd name="T65" fmla="*/ 0 h 1"/>
                <a:gd name="T66" fmla="*/ 68 w 105"/>
                <a:gd name="T67" fmla="*/ 0 h 1"/>
                <a:gd name="T68" fmla="*/ 70 w 105"/>
                <a:gd name="T69" fmla="*/ 0 h 1"/>
                <a:gd name="T70" fmla="*/ 72 w 105"/>
                <a:gd name="T71" fmla="*/ 0 h 1"/>
                <a:gd name="T72" fmla="*/ 74 w 105"/>
                <a:gd name="T73" fmla="*/ 0 h 1"/>
                <a:gd name="T74" fmla="*/ 76 w 105"/>
                <a:gd name="T75" fmla="*/ 0 h 1"/>
                <a:gd name="T76" fmla="*/ 78 w 105"/>
                <a:gd name="T77" fmla="*/ 0 h 1"/>
                <a:gd name="T78" fmla="*/ 80 w 105"/>
                <a:gd name="T79" fmla="*/ 0 h 1"/>
                <a:gd name="T80" fmla="*/ 82 w 105"/>
                <a:gd name="T81" fmla="*/ 0 h 1"/>
                <a:gd name="T82" fmla="*/ 84 w 105"/>
                <a:gd name="T83" fmla="*/ 0 h 1"/>
                <a:gd name="T84" fmla="*/ 86 w 105"/>
                <a:gd name="T85" fmla="*/ 0 h 1"/>
                <a:gd name="T86" fmla="*/ 88 w 105"/>
                <a:gd name="T87" fmla="*/ 0 h 1"/>
                <a:gd name="T88" fmla="*/ 90 w 105"/>
                <a:gd name="T89" fmla="*/ 0 h 1"/>
                <a:gd name="T90" fmla="*/ 92 w 105"/>
                <a:gd name="T91" fmla="*/ 0 h 1"/>
                <a:gd name="T92" fmla="*/ 94 w 105"/>
                <a:gd name="T93" fmla="*/ 0 h 1"/>
                <a:gd name="T94" fmla="*/ 96 w 105"/>
                <a:gd name="T95" fmla="*/ 0 h 1"/>
                <a:gd name="T96" fmla="*/ 98 w 105"/>
                <a:gd name="T97" fmla="*/ 0 h 1"/>
                <a:gd name="T98" fmla="*/ 100 w 105"/>
                <a:gd name="T99" fmla="*/ 0 h 1"/>
                <a:gd name="T100" fmla="*/ 103 w 105"/>
                <a:gd name="T101" fmla="*/ 0 h 1"/>
                <a:gd name="T102" fmla="*/ 105 w 105"/>
                <a:gd name="T103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5" h="1">
                  <a:moveTo>
                    <a:pt x="0" y="1"/>
                  </a:moveTo>
                  <a:lnTo>
                    <a:pt x="2" y="1"/>
                  </a:lnTo>
                  <a:lnTo>
                    <a:pt x="4" y="1"/>
                  </a:lnTo>
                  <a:lnTo>
                    <a:pt x="6" y="1"/>
                  </a:lnTo>
                  <a:lnTo>
                    <a:pt x="8" y="1"/>
                  </a:lnTo>
                  <a:lnTo>
                    <a:pt x="10" y="1"/>
                  </a:lnTo>
                  <a:lnTo>
                    <a:pt x="12" y="1"/>
                  </a:lnTo>
                  <a:lnTo>
                    <a:pt x="14" y="1"/>
                  </a:lnTo>
                  <a:lnTo>
                    <a:pt x="16" y="1"/>
                  </a:lnTo>
                  <a:lnTo>
                    <a:pt x="18" y="1"/>
                  </a:lnTo>
                  <a:lnTo>
                    <a:pt x="20" y="1"/>
                  </a:lnTo>
                  <a:lnTo>
                    <a:pt x="22" y="1"/>
                  </a:lnTo>
                  <a:lnTo>
                    <a:pt x="24" y="1"/>
                  </a:lnTo>
                  <a:lnTo>
                    <a:pt x="26" y="1"/>
                  </a:lnTo>
                  <a:lnTo>
                    <a:pt x="29" y="1"/>
                  </a:lnTo>
                  <a:lnTo>
                    <a:pt x="31" y="1"/>
                  </a:lnTo>
                  <a:lnTo>
                    <a:pt x="33" y="1"/>
                  </a:lnTo>
                  <a:lnTo>
                    <a:pt x="35" y="1"/>
                  </a:lnTo>
                  <a:lnTo>
                    <a:pt x="37" y="1"/>
                  </a:lnTo>
                  <a:lnTo>
                    <a:pt x="39" y="1"/>
                  </a:lnTo>
                  <a:lnTo>
                    <a:pt x="41" y="1"/>
                  </a:lnTo>
                  <a:lnTo>
                    <a:pt x="43" y="1"/>
                  </a:lnTo>
                  <a:lnTo>
                    <a:pt x="45" y="1"/>
                  </a:lnTo>
                  <a:lnTo>
                    <a:pt x="47" y="1"/>
                  </a:lnTo>
                  <a:lnTo>
                    <a:pt x="49" y="1"/>
                  </a:lnTo>
                  <a:lnTo>
                    <a:pt x="51" y="1"/>
                  </a:lnTo>
                  <a:lnTo>
                    <a:pt x="53" y="1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0"/>
                  </a:lnTo>
                  <a:lnTo>
                    <a:pt x="61" y="0"/>
                  </a:lnTo>
                  <a:lnTo>
                    <a:pt x="63" y="0"/>
                  </a:lnTo>
                  <a:lnTo>
                    <a:pt x="66" y="0"/>
                  </a:lnTo>
                  <a:lnTo>
                    <a:pt x="68" y="0"/>
                  </a:lnTo>
                  <a:lnTo>
                    <a:pt x="70" y="0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76" y="0"/>
                  </a:lnTo>
                  <a:lnTo>
                    <a:pt x="78" y="0"/>
                  </a:lnTo>
                  <a:lnTo>
                    <a:pt x="80" y="0"/>
                  </a:lnTo>
                  <a:lnTo>
                    <a:pt x="82" y="0"/>
                  </a:lnTo>
                  <a:lnTo>
                    <a:pt x="84" y="0"/>
                  </a:lnTo>
                  <a:lnTo>
                    <a:pt x="86" y="0"/>
                  </a:lnTo>
                  <a:lnTo>
                    <a:pt x="88" y="0"/>
                  </a:lnTo>
                  <a:lnTo>
                    <a:pt x="90" y="0"/>
                  </a:lnTo>
                  <a:lnTo>
                    <a:pt x="92" y="0"/>
                  </a:lnTo>
                  <a:lnTo>
                    <a:pt x="94" y="0"/>
                  </a:lnTo>
                  <a:lnTo>
                    <a:pt x="96" y="0"/>
                  </a:lnTo>
                  <a:lnTo>
                    <a:pt x="98" y="0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5" y="0"/>
                  </a:lnTo>
                </a:path>
              </a:pathLst>
            </a:custGeom>
            <a:noFill/>
            <a:ln w="19050" cap="flat">
              <a:solidFill>
                <a:srgbClr val="D9531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PK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8" name="Rectangle 97"/>
                <p:cNvSpPr>
                  <a:spLocks noChangeArrowheads="1"/>
                </p:cNvSpPr>
                <p:nvPr/>
              </p:nvSpPr>
              <p:spPr bwMode="auto">
                <a:xfrm>
                  <a:off x="5851726" y="3770785"/>
                  <a:ext cx="523461" cy="250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PK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08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51726" y="3770785"/>
                  <a:ext cx="523461" cy="25031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5" name="Rectangle 97"/>
                <p:cNvSpPr>
                  <a:spLocks noChangeArrowheads="1"/>
                </p:cNvSpPr>
                <p:nvPr/>
              </p:nvSpPr>
              <p:spPr bwMode="auto">
                <a:xfrm>
                  <a:off x="6637340" y="4264533"/>
                  <a:ext cx="527164" cy="25031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PK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d>
                          <m:dPr>
                            <m:ctrlP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en-PK" sz="1400" b="0" i="1" u="none" strike="noStrike" cap="none" normalizeH="0" baseline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kumimoji="0" lang="en-PK" altLang="en-PK" sz="36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anose="020B0604020202020204" pitchFamily="34" charset="0"/>
                  </a:endParaRPr>
                </a:p>
              </p:txBody>
            </p:sp>
          </mc:Choice>
          <mc:Fallback xmlns="">
            <p:sp>
              <p:nvSpPr>
                <p:cNvPr id="115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37340" y="4264533"/>
                  <a:ext cx="527164" cy="25031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/>
                <p:cNvSpPr/>
                <p:nvPr/>
              </p:nvSpPr>
              <p:spPr>
                <a:xfrm>
                  <a:off x="4989043" y="6006517"/>
                  <a:ext cx="4011087" cy="393354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PK" altLang="en-PK" sz="1600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Time</m:t>
                        </m:r>
                        <m:r>
                          <a:rPr lang="en-US" altLang="en-PK" sz="1600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PK" altLang="en-PK" sz="1600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PK" altLang="en-PK" sz="1600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PK" altLang="en-PK" sz="1600" dirty="0">
                            <a:solidFill>
                              <a:srgbClr val="262626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PK" sz="1600" dirty="0"/>
                </a:p>
              </p:txBody>
            </p:sp>
          </mc:Choice>
          <mc:Fallback xmlns="">
            <p:sp>
              <p:nvSpPr>
                <p:cNvPr id="126" name="Rectangle 1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9043" y="6006517"/>
                  <a:ext cx="4011087" cy="39335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5" name="Straight Arrow Connector 134"/>
            <p:cNvCxnSpPr/>
            <p:nvPr/>
          </p:nvCxnSpPr>
          <p:spPr>
            <a:xfrm>
              <a:off x="5517966" y="6056996"/>
              <a:ext cx="842571" cy="0"/>
            </a:xfrm>
            <a:prstGeom prst="straightConnector1">
              <a:avLst/>
            </a:prstGeom>
            <a:ln w="9525"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6360537" y="3854605"/>
              <a:ext cx="0" cy="2235732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5525329" y="3854605"/>
              <a:ext cx="0" cy="2235732"/>
            </a:xfrm>
            <a:prstGeom prst="line">
              <a:avLst/>
            </a:prstGeom>
            <a:ln w="9525"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Rectangle 97"/>
                <p:cNvSpPr>
                  <a:spLocks noChangeArrowheads="1"/>
                </p:cNvSpPr>
                <p:nvPr/>
              </p:nvSpPr>
              <p:spPr bwMode="auto">
                <a:xfrm>
                  <a:off x="5846266" y="5989576"/>
                  <a:ext cx="135293" cy="215444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en-PK" sz="1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kumimoji="0" lang="en-PK" altLang="en-PK" sz="14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</a:endParaRPr>
                </a:p>
              </p:txBody>
            </p:sp>
          </mc:Choice>
          <mc:Fallback xmlns="">
            <p:sp>
              <p:nvSpPr>
                <p:cNvPr id="140" name="Rectangle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846266" y="5989576"/>
                  <a:ext cx="135293" cy="215444"/>
                </a:xfrm>
                <a:prstGeom prst="rect">
                  <a:avLst/>
                </a:prstGeom>
                <a:blipFill>
                  <a:blip r:embed="rId12"/>
                  <a:stretch>
                    <a:fillRect l="-13636" r="-13636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944776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IC layers of a MOSFET</a:t>
            </a:r>
            <a:endParaRPr lang="en-P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200224"/>
          </a:xfrm>
        </p:spPr>
        <p:txBody>
          <a:bodyPr>
            <a:normAutofit/>
          </a:bodyPr>
          <a:lstStyle/>
          <a:p>
            <a:r>
              <a:rPr lang="en-US" dirty="0"/>
              <a:t>CMOS gates are made of complementary MOSFETs</a:t>
            </a:r>
          </a:p>
          <a:p>
            <a:pPr lvl="1"/>
            <a:r>
              <a:rPr lang="en-US" dirty="0"/>
              <a:t>It is important to understand MOSFET at physical level</a:t>
            </a:r>
          </a:p>
          <a:p>
            <a:r>
              <a:rPr lang="en-US" dirty="0"/>
              <a:t>To start with, consider an </a:t>
            </a:r>
            <a:r>
              <a:rPr lang="en-US" dirty="0" err="1"/>
              <a:t>nMOS</a:t>
            </a:r>
            <a:r>
              <a:rPr lang="en-US" dirty="0"/>
              <a:t> with</a:t>
            </a:r>
          </a:p>
          <a:p>
            <a:pPr lvl="1"/>
            <a:r>
              <a:rPr lang="en-US" dirty="0"/>
              <a:t>Two set of patterned layers</a:t>
            </a:r>
          </a:p>
          <a:p>
            <a:r>
              <a:rPr lang="en-US" dirty="0"/>
              <a:t>The gate electrode acts as control terminal</a:t>
            </a:r>
          </a:p>
          <a:p>
            <a:pPr lvl="1"/>
            <a:r>
              <a:rPr lang="en-US" dirty="0"/>
              <a:t>When voltage is applied to gate, the switch is closed</a:t>
            </a:r>
          </a:p>
          <a:p>
            <a:pPr lvl="1"/>
            <a:r>
              <a:rPr lang="en-US" dirty="0"/>
              <a:t>and vice versa</a:t>
            </a:r>
          </a:p>
          <a:p>
            <a:r>
              <a:rPr lang="en-US" dirty="0"/>
              <a:t>The voltage at gate controls current flow </a:t>
            </a:r>
          </a:p>
          <a:p>
            <a:pPr lvl="1"/>
            <a:r>
              <a:rPr lang="en-US" dirty="0"/>
              <a:t>between source and drain terminals</a:t>
            </a:r>
          </a:p>
          <a:p>
            <a:r>
              <a:rPr lang="en-US" dirty="0"/>
              <a:t>Consider a signal G applied at gate terminal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757" y="1810591"/>
            <a:ext cx="2036033" cy="16130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5184" y="2576987"/>
            <a:ext cx="1691442" cy="178832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140" y="4607784"/>
            <a:ext cx="2128949" cy="59715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55140" y="5633444"/>
            <a:ext cx="2128949" cy="59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922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Physical Structure of a MOSFET</a:t>
            </a:r>
            <a:br>
              <a:rPr lang="en-US" dirty="0"/>
            </a:br>
            <a:r>
              <a:rPr lang="en-US" dirty="0"/>
              <a:t>Various Layers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4234893" cy="43992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Source and Drain are on same layer, above substrate</a:t>
                </a:r>
              </a:p>
              <a:p>
                <a:pPr lvl="1"/>
                <a:r>
                  <a:rPr lang="en-US" dirty="0"/>
                  <a:t>But physically separated</a:t>
                </a:r>
              </a:p>
              <a:p>
                <a:pPr lvl="1"/>
                <a:r>
                  <a:rPr lang="en-US" dirty="0"/>
                  <a:t>From one another by distance called channel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Width of the Source and drain</a:t>
                </a:r>
              </a:p>
              <a:p>
                <a:pPr lvl="1"/>
                <a:r>
                  <a:rPr lang="en-US" dirty="0"/>
                  <a:t>Is called channel width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The aspect ratio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r>
                  <a:rPr lang="en-US" dirty="0"/>
                  <a:t> is an</a:t>
                </a:r>
              </a:p>
              <a:p>
                <a:pPr lvl="1"/>
                <a:r>
                  <a:rPr lang="en-US" dirty="0"/>
                  <a:t> important parameter in VLSI Design</a:t>
                </a:r>
              </a:p>
              <a:p>
                <a:r>
                  <a:rPr lang="en-US" dirty="0"/>
                  <a:t>The gate is separated from substrate</a:t>
                </a:r>
              </a:p>
              <a:p>
                <a:pPr lvl="1"/>
                <a:r>
                  <a:rPr lang="en-US" dirty="0"/>
                  <a:t>By silicon dioxide (glass) layer</a:t>
                </a:r>
              </a:p>
              <a:p>
                <a:r>
                  <a:rPr lang="en-US" dirty="0"/>
                  <a:t> </a:t>
                </a:r>
                <a:endParaRPr lang="en-PK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4234893" cy="4399222"/>
              </a:xfrm>
              <a:blipFill>
                <a:blip r:embed="rId2"/>
                <a:stretch>
                  <a:fillRect l="-1439" t="-15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14</a:t>
            </a:fld>
            <a:endParaRPr lang="en-US"/>
          </a:p>
        </p:txBody>
      </p:sp>
      <p:grpSp>
        <p:nvGrpSpPr>
          <p:cNvPr id="25" name="Group 24"/>
          <p:cNvGrpSpPr/>
          <p:nvPr/>
        </p:nvGrpSpPr>
        <p:grpSpPr>
          <a:xfrm>
            <a:off x="5109029" y="2207986"/>
            <a:ext cx="3893500" cy="4036970"/>
            <a:chOff x="4847771" y="2207986"/>
            <a:chExt cx="4154758" cy="4036970"/>
          </a:xfrm>
        </p:grpSpPr>
        <p:pic>
          <p:nvPicPr>
            <p:cNvPr id="24" name="Picture 23"/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28905" y="2207986"/>
              <a:ext cx="4019014" cy="403697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5388027" y="5590825"/>
                  <a:ext cx="281085" cy="26925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88027" y="5590825"/>
                  <a:ext cx="281085" cy="269258"/>
                </a:xfrm>
                <a:prstGeom prst="rect">
                  <a:avLst/>
                </a:prstGeom>
                <a:blipFill>
                  <a:blip r:embed="rId4"/>
                  <a:stretch>
                    <a:fillRect l="-23256" r="-23256" b="-11364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6180465" y="3966156"/>
                  <a:ext cx="180776" cy="269258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80465" y="3966156"/>
                  <a:ext cx="180776" cy="269258"/>
                </a:xfrm>
                <a:prstGeom prst="rect">
                  <a:avLst/>
                </a:prstGeom>
                <a:blipFill>
                  <a:blip r:embed="rId5"/>
                  <a:stretch>
                    <a:fillRect l="-39286" r="-28571" b="-9091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/>
            <p:nvPr/>
          </p:nvCxnSpPr>
          <p:spPr>
            <a:xfrm>
              <a:off x="5557550" y="4094896"/>
              <a:ext cx="0" cy="426110"/>
            </a:xfrm>
            <a:prstGeom prst="straightConnector1">
              <a:avLst/>
            </a:prstGeom>
            <a:ln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8309074" y="4740809"/>
              <a:ext cx="0" cy="426110"/>
            </a:xfrm>
            <a:prstGeom prst="straightConnector1">
              <a:avLst/>
            </a:prstGeom>
            <a:ln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5245150" y="3839259"/>
              <a:ext cx="638349" cy="26925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Source</a:t>
              </a:r>
              <a:endParaRPr lang="en-PK" dirty="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056464" y="4471551"/>
              <a:ext cx="502576" cy="26925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Drain</a:t>
              </a:r>
              <a:endParaRPr lang="en-PK" dirty="0"/>
            </a:p>
          </p:txBody>
        </p:sp>
        <p:cxnSp>
          <p:nvCxnSpPr>
            <p:cNvPr id="17" name="Straight Arrow Connector 16"/>
            <p:cNvCxnSpPr/>
            <p:nvPr/>
          </p:nvCxnSpPr>
          <p:spPr>
            <a:xfrm>
              <a:off x="5926967" y="2997109"/>
              <a:ext cx="658162" cy="536805"/>
            </a:xfrm>
            <a:prstGeom prst="straightConnector1">
              <a:avLst/>
            </a:prstGeom>
            <a:ln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4847771" y="2771940"/>
              <a:ext cx="1379119" cy="53851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dirty="0"/>
                <a:t>Silicon dioxide insulator</a:t>
              </a:r>
              <a:endParaRPr lang="en-PK" dirty="0"/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rot="5400000">
              <a:off x="8193797" y="3022931"/>
              <a:ext cx="0" cy="575047"/>
            </a:xfrm>
            <a:prstGeom prst="straightConnector1">
              <a:avLst/>
            </a:prstGeom>
            <a:ln>
              <a:tailEnd type="arrow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8559040" y="3175826"/>
              <a:ext cx="443489" cy="269258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dirty="0"/>
                <a:t>Gate</a:t>
              </a:r>
              <a:endParaRPr lang="en-PK" dirty="0"/>
            </a:p>
          </p:txBody>
        </p:sp>
      </p:grpSp>
    </p:spTree>
    <p:extLst>
      <p:ext uri="{BB962C8B-B14F-4D97-AF65-F5344CB8AC3E}">
        <p14:creationId xmlns:p14="http://schemas.microsoft.com/office/powerpoint/2010/main" val="2630037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Physical Structure of a MOSFET</a:t>
            </a:r>
            <a:br>
              <a:rPr lang="en-US" dirty="0"/>
            </a:br>
            <a:r>
              <a:rPr lang="en-US" dirty="0"/>
              <a:t>Various Layers cont.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5176381" cy="439922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 stacking of layers, generates a 3D structure</a:t>
                </a:r>
              </a:p>
              <a:p>
                <a:pPr lvl="1"/>
                <a:r>
                  <a:rPr lang="en-US" dirty="0"/>
                  <a:t>So we will use both side and top view</a:t>
                </a:r>
              </a:p>
              <a:p>
                <a:r>
                  <a:rPr lang="en-US" dirty="0"/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layer separating substrate and gate</a:t>
                </a:r>
              </a:p>
              <a:p>
                <a:pPr lvl="1"/>
                <a:r>
                  <a:rPr lang="en-US" dirty="0"/>
                  <a:t>May be referred as </a:t>
                </a:r>
                <a:r>
                  <a:rPr lang="en-US" b="1" dirty="0"/>
                  <a:t>gate oxide</a:t>
                </a:r>
              </a:p>
              <a:p>
                <a:r>
                  <a:rPr lang="en-US" dirty="0"/>
                  <a:t>The simplified view of MOSFET shown earlier shows only layers and patterns</a:t>
                </a:r>
              </a:p>
              <a:p>
                <a:pPr lvl="1"/>
                <a:r>
                  <a:rPr lang="en-US" dirty="0"/>
                  <a:t>Does not specify sizes</a:t>
                </a:r>
              </a:p>
              <a:p>
                <a:r>
                  <a:rPr lang="en-US" dirty="0" err="1"/>
                  <a:t>nMOS</a:t>
                </a:r>
                <a:r>
                  <a:rPr lang="en-US" dirty="0"/>
                  <a:t> has n+ </a:t>
                </a:r>
                <a:r>
                  <a:rPr lang="en-US" i="1" dirty="0"/>
                  <a:t>drain</a:t>
                </a:r>
                <a:r>
                  <a:rPr lang="en-US" dirty="0"/>
                  <a:t> and </a:t>
                </a:r>
                <a:r>
                  <a:rPr lang="en-US" i="1" dirty="0"/>
                  <a:t>source</a:t>
                </a:r>
                <a:r>
                  <a:rPr lang="en-US" dirty="0"/>
                  <a:t>, in </a:t>
                </a:r>
                <a:r>
                  <a:rPr lang="en-US" b="1" dirty="0"/>
                  <a:t>p-substrate</a:t>
                </a:r>
              </a:p>
              <a:p>
                <a:pPr lvl="1"/>
                <a:r>
                  <a:rPr lang="en-US" dirty="0"/>
                  <a:t>Excess </a:t>
                </a:r>
                <a:r>
                  <a:rPr lang="en-US" b="1" dirty="0"/>
                  <a:t>electrons</a:t>
                </a:r>
                <a:r>
                  <a:rPr lang="en-US" dirty="0"/>
                  <a:t> in drain and source regions</a:t>
                </a:r>
              </a:p>
              <a:p>
                <a:r>
                  <a:rPr lang="en-US" dirty="0" err="1"/>
                  <a:t>pMOS</a:t>
                </a:r>
                <a:r>
                  <a:rPr lang="en-US" dirty="0"/>
                  <a:t> has p+ </a:t>
                </a:r>
                <a:r>
                  <a:rPr lang="en-US" i="1" dirty="0"/>
                  <a:t>drain</a:t>
                </a:r>
                <a:r>
                  <a:rPr lang="en-US" dirty="0"/>
                  <a:t> and </a:t>
                </a:r>
                <a:r>
                  <a:rPr lang="en-US" i="1" dirty="0"/>
                  <a:t>source</a:t>
                </a:r>
                <a:r>
                  <a:rPr lang="en-US" dirty="0"/>
                  <a:t>, in </a:t>
                </a:r>
                <a:r>
                  <a:rPr lang="en-US" b="1" dirty="0"/>
                  <a:t>n-well</a:t>
                </a:r>
              </a:p>
              <a:p>
                <a:pPr lvl="1"/>
                <a:r>
                  <a:rPr lang="en-US" dirty="0"/>
                  <a:t>Excess </a:t>
                </a:r>
                <a:r>
                  <a:rPr lang="en-US" b="1" dirty="0"/>
                  <a:t>holes</a:t>
                </a:r>
                <a:r>
                  <a:rPr lang="en-US" dirty="0"/>
                  <a:t> in drain and source regions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5176381" cy="4399222"/>
              </a:xfrm>
              <a:blipFill>
                <a:blip r:embed="rId2"/>
                <a:stretch>
                  <a:fillRect l="-1178" t="-1526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15</a:t>
            </a:fld>
            <a:endParaRPr lang="en-US"/>
          </a:p>
        </p:txBody>
      </p:sp>
      <p:grpSp>
        <p:nvGrpSpPr>
          <p:cNvPr id="42" name="Group 41"/>
          <p:cNvGrpSpPr/>
          <p:nvPr/>
        </p:nvGrpSpPr>
        <p:grpSpPr>
          <a:xfrm>
            <a:off x="6031123" y="1869641"/>
            <a:ext cx="2978430" cy="1876899"/>
            <a:chOff x="5891423" y="1952191"/>
            <a:chExt cx="2978430" cy="187689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79629" y="1952191"/>
              <a:ext cx="1798927" cy="1528640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894387" y="2750216"/>
                  <a:ext cx="159724" cy="2462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oMath>
                    </m:oMathPara>
                  </a14:m>
                  <a:endParaRPr lang="en-PK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94387" y="2750216"/>
                  <a:ext cx="159724" cy="246221"/>
                </a:xfrm>
                <a:prstGeom prst="rect">
                  <a:avLst/>
                </a:prstGeom>
                <a:blipFill>
                  <a:blip r:embed="rId4"/>
                  <a:stretch>
                    <a:fillRect l="-30769" r="-26923" b="-5000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Arrow Connector 27"/>
            <p:cNvCxnSpPr/>
            <p:nvPr/>
          </p:nvCxnSpPr>
          <p:spPr>
            <a:xfrm flipH="1" flipV="1">
              <a:off x="7253288" y="2114979"/>
              <a:ext cx="631112" cy="845"/>
            </a:xfrm>
            <a:prstGeom prst="straightConnector1">
              <a:avLst/>
            </a:prstGeom>
            <a:ln>
              <a:tailEnd type="arrow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7931743" y="1991869"/>
              <a:ext cx="39504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/>
                <a:t>Gate</a:t>
              </a:r>
              <a:endParaRPr lang="en-PK" sz="1600" dirty="0"/>
            </a:p>
          </p:txBody>
        </p:sp>
        <p:cxnSp>
          <p:nvCxnSpPr>
            <p:cNvPr id="30" name="Straight Arrow Connector 29"/>
            <p:cNvCxnSpPr/>
            <p:nvPr/>
          </p:nvCxnSpPr>
          <p:spPr>
            <a:xfrm flipH="1">
              <a:off x="7308671" y="2376536"/>
              <a:ext cx="580721" cy="38444"/>
            </a:xfrm>
            <a:prstGeom prst="straightConnector1">
              <a:avLst/>
            </a:prstGeom>
            <a:ln>
              <a:tailEnd type="arrow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7931743" y="2253426"/>
              <a:ext cx="938110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Gate Oxide</a:t>
              </a:r>
              <a:endParaRPr lang="en-PK" sz="1600" dirty="0"/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 flipH="1" flipV="1">
              <a:off x="7878556" y="2598332"/>
              <a:ext cx="396343" cy="286513"/>
            </a:xfrm>
            <a:prstGeom prst="straightConnector1">
              <a:avLst/>
            </a:prstGeom>
            <a:ln>
              <a:tailEnd type="arrow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3" name="TextBox 32"/>
            <p:cNvSpPr txBox="1"/>
            <p:nvPr/>
          </p:nvSpPr>
          <p:spPr>
            <a:xfrm>
              <a:off x="8115954" y="2865257"/>
              <a:ext cx="470973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Drain</a:t>
              </a:r>
              <a:endParaRPr lang="en-PK" sz="1600" dirty="0"/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>
              <a:off x="6198585" y="2182537"/>
              <a:ext cx="78783" cy="303488"/>
            </a:xfrm>
            <a:prstGeom prst="straightConnector1">
              <a:avLst/>
            </a:prstGeom>
            <a:ln>
              <a:tailEnd type="arrow" w="med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5891423" y="1952191"/>
              <a:ext cx="648607" cy="24622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600" dirty="0"/>
                <a:t>Source</a:t>
              </a:r>
              <a:endParaRPr lang="en-PK"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507249" y="3459758"/>
              <a:ext cx="11196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Side View</a:t>
              </a:r>
              <a:endParaRPr lang="en-PK" b="1" dirty="0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5913368" y="3838214"/>
            <a:ext cx="2084003" cy="2514143"/>
            <a:chOff x="6116568" y="3838214"/>
            <a:chExt cx="2084003" cy="2514143"/>
          </a:xfrm>
        </p:grpSpPr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16568" y="4075885"/>
              <a:ext cx="2084003" cy="1963878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146910" y="4909321"/>
                  <a:ext cx="250068" cy="246221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oMath>
                    </m:oMathPara>
                  </a14:m>
                  <a:endParaRPr lang="en-PK" sz="16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6910" y="4909321"/>
                  <a:ext cx="250068" cy="246221"/>
                </a:xfrm>
                <a:prstGeom prst="rect">
                  <a:avLst/>
                </a:prstGeom>
                <a:blipFill>
                  <a:blip r:embed="rId6"/>
                  <a:stretch>
                    <a:fillRect l="-17073" r="-14634" b="-4878"/>
                  </a:stretch>
                </a:blipFill>
              </p:spPr>
              <p:txBody>
                <a:bodyPr/>
                <a:lstStyle/>
                <a:p>
                  <a:r>
                    <a:rPr lang="en-PK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TextBox 25"/>
            <p:cNvSpPr txBox="1"/>
            <p:nvPr/>
          </p:nvSpPr>
          <p:spPr>
            <a:xfrm>
              <a:off x="6452414" y="4895041"/>
              <a:ext cx="569258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/>
                <a:t>Source</a:t>
              </a:r>
              <a:endParaRPr lang="en-PK"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7637131" y="4895041"/>
              <a:ext cx="44621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/>
                <a:t>Drain</a:t>
              </a:r>
              <a:endParaRPr lang="en-PK"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7098447" y="3838214"/>
              <a:ext cx="395045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sz="1600" dirty="0"/>
                <a:t>Gate</a:t>
              </a:r>
              <a:endParaRPr lang="en-PK" sz="16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6755186" y="5983025"/>
              <a:ext cx="10564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Top View</a:t>
              </a:r>
              <a:endParaRPr lang="en-PK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532665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Conduction in Silicon</a:t>
            </a:r>
            <a:br>
              <a:rPr lang="en-US" dirty="0"/>
            </a:br>
            <a:r>
              <a:rPr lang="en-US" dirty="0"/>
              <a:t>Intrinsic Semiconductor</a:t>
            </a:r>
            <a:endParaRPr lang="en-PK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pure crystalline form, silicon is a poor conductor (semiconductor)</a:t>
                </a:r>
              </a:p>
              <a:p>
                <a:pPr lvl="1"/>
                <a:r>
                  <a:rPr lang="en-US" dirty="0"/>
                  <a:t>Atomic density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Small number of electrons are available for current flow</a:t>
                </a:r>
              </a:p>
              <a:p>
                <a:pPr lvl="2"/>
                <a:r>
                  <a:rPr lang="en-US" dirty="0"/>
                  <a:t>Due to thermal excitation, upon gaining thermal energy,</a:t>
                </a:r>
              </a:p>
              <a:p>
                <a:pPr lvl="2"/>
                <a:r>
                  <a:rPr lang="en-US" dirty="0"/>
                  <a:t>jump from valance to conduction band</a:t>
                </a:r>
              </a:p>
              <a:p>
                <a:r>
                  <a:rPr lang="en-US" dirty="0"/>
                  <a:t>A sample of purse silicon crystal is an intrinsic material</a:t>
                </a:r>
              </a:p>
              <a:p>
                <a:pPr lvl="1"/>
                <a:r>
                  <a:rPr lang="en-US" dirty="0"/>
                  <a:t>The number of free electrons represented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(intrinsic carrier density)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a function of temperature. 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27 °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=1.45×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c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is very small compared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𝑆𝑖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Upon gaining thermal energy an electron may break its covalent bond</a:t>
                </a:r>
              </a:p>
              <a:p>
                <a:pPr lvl="1"/>
                <a:r>
                  <a:rPr lang="en-US" dirty="0"/>
                  <a:t>It becomes a free (mobile) electron, leaving behind a vacancy, called a hole</a:t>
                </a:r>
              </a:p>
              <a:p>
                <a:pPr lvl="1"/>
                <a:r>
                  <a:rPr lang="en-US" dirty="0"/>
                  <a:t>The two newly particles are independent, but known as </a:t>
                </a:r>
                <a:r>
                  <a:rPr lang="en-US" b="1" dirty="0"/>
                  <a:t>electron-hole pair</a:t>
                </a:r>
              </a:p>
              <a:p>
                <a:endParaRPr lang="en-PK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  <a:blipFill>
                <a:blip r:embed="rId2"/>
                <a:stretch>
                  <a:fillRect l="-808" t="-15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9013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Conduction in Silicon Charge Carriers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It is important to study free charge carriers</a:t>
                </a:r>
              </a:p>
              <a:p>
                <a:pPr lvl="1"/>
                <a:r>
                  <a:rPr lang="en-US" dirty="0"/>
                  <a:t>As they are responsible for current flow</a:t>
                </a:r>
              </a:p>
              <a:p>
                <a:r>
                  <a:rPr lang="en-US" dirty="0"/>
                  <a:t>As discussed earlier, the process of electron-hole pair generation</a:t>
                </a:r>
              </a:p>
              <a:p>
                <a:pPr lvl="1"/>
                <a:r>
                  <a:rPr lang="en-US" dirty="0"/>
                  <a:t>An intrinsic material will have same number of electrons and holes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	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number of free electrons,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number of holes)</a:t>
                </a:r>
              </a:p>
              <a:p>
                <a:r>
                  <a:rPr lang="en-US" b="0" dirty="0"/>
                  <a:t>The product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b="0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Is called mass-action law and governs relative carrier density</a:t>
                </a:r>
              </a:p>
              <a:p>
                <a:pPr lvl="1"/>
                <a:r>
                  <a:rPr lang="en-US" dirty="0"/>
                  <a:t>When a material is in equilibrium (no current is flowing)</a:t>
                </a:r>
              </a:p>
              <a:p>
                <a:r>
                  <a:rPr lang="en-US" dirty="0"/>
                  <a:t>In order to increase charge carrier</a:t>
                </a:r>
              </a:p>
              <a:p>
                <a:pPr lvl="1"/>
                <a:r>
                  <a:rPr lang="en-US" dirty="0"/>
                  <a:t>Intrinsic silicon is doped with trivalent or pentavalent impurity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  <a:blipFill>
                <a:blip r:embed="rId2"/>
                <a:stretch>
                  <a:fillRect l="-808" t="-1541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15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Conduction in Silicon Donor Doping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Pentavalent impurity (Phosphorus or Arsenic atoms), donor impurity</a:t>
                </a:r>
              </a:p>
              <a:p>
                <a:pPr lvl="1"/>
                <a:r>
                  <a:rPr lang="en-US" dirty="0"/>
                  <a:t>Donate an electron to crystal, making the semiconductor n-type</a:t>
                </a:r>
              </a:p>
              <a:p>
                <a:pPr lvl="1"/>
                <a:r>
                  <a:rPr lang="en-US" dirty="0"/>
                  <a:t>The number of donor impurity atoms added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Donor dopin</a:t>
                </a:r>
                <a:r>
                  <a:rPr lang="en-US" dirty="0"/>
                  <a:t>g concentration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dirty="0"/>
                  <a:t>) is typically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As intrinsic semiconductor has small number of electrons</a:t>
                </a:r>
              </a:p>
              <a:p>
                <a:pPr lvl="1"/>
                <a:r>
                  <a:rPr lang="en-US" dirty="0"/>
                  <a:t>So if doping concentration is high, and, each atom donates one electron</a:t>
                </a:r>
              </a:p>
              <a:p>
                <a:pPr lvl="1"/>
                <a:r>
                  <a:rPr lang="en-US" b="0" dirty="0"/>
                  <a:t># of electrons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b="0" dirty="0"/>
                  <a:t>) in n-type material,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# of holes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) in n-type material, will be given by mass-action law,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will have even lower value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of intrinsic material</a:t>
                </a:r>
              </a:p>
              <a:p>
                <a:pPr lvl="1"/>
                <a:r>
                  <a:rPr lang="en-US" dirty="0"/>
                  <a:t>As some of the newly donated electrons will recombine with holes</a:t>
                </a:r>
              </a:p>
              <a:p>
                <a:r>
                  <a:rPr lang="en-US" dirty="0"/>
                  <a:t>In an n-type sample, electrons are majority &amp; holes are minority carriers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  <a:blipFill>
                <a:blip r:embed="rId2"/>
                <a:stretch>
                  <a:fillRect l="-808" t="-1541" r="-185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25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Electrical Conduction in Silicon Acceptor Doping</a:t>
            </a:r>
            <a:endParaRPr lang="en-PK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Trivalent impurity (Boron etc. atoms), acceptor impurity</a:t>
                </a:r>
              </a:p>
              <a:p>
                <a:pPr lvl="1"/>
                <a:r>
                  <a:rPr lang="en-US" dirty="0"/>
                  <a:t>accepts an electron from crystal, leaves a hole, making semiconductor p-type</a:t>
                </a:r>
              </a:p>
              <a:p>
                <a:pPr lvl="1"/>
                <a:r>
                  <a:rPr lang="en-US" dirty="0"/>
                  <a:t>The number of acceptor impurity atoms added to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 is given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Acceptor doping concentration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r>
                  <a:rPr lang="en-US" dirty="0"/>
                  <a:t>) is typically between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Adding acceptor impurity will result in increased # of holes</a:t>
                </a:r>
              </a:p>
              <a:p>
                <a:pPr lvl="1"/>
                <a:r>
                  <a:rPr lang="en-US" dirty="0"/>
                  <a:t># of hole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 in p-type material,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# of electrons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) in p-type material, will be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Also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will have even lower value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of intrinsic material</a:t>
                </a:r>
              </a:p>
              <a:p>
                <a:pPr lvl="1"/>
                <a:r>
                  <a:rPr lang="en-US" dirty="0"/>
                  <a:t>As some of the newly created holes will recombine with electrons</a:t>
                </a:r>
              </a:p>
              <a:p>
                <a:r>
                  <a:rPr lang="en-US" dirty="0"/>
                  <a:t>In an p-type sample, holes are majority &amp; electrons are minority carriers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2959" y="1845734"/>
                <a:ext cx="7543801" cy="4351866"/>
              </a:xfrm>
              <a:blipFill>
                <a:blip r:embed="rId2"/>
                <a:stretch>
                  <a:fillRect l="-808" t="-1541" r="-1858"/>
                </a:stretch>
              </a:blipFill>
            </p:spPr>
            <p:txBody>
              <a:bodyPr/>
              <a:lstStyle/>
              <a:p>
                <a:r>
                  <a:rPr lang="en-P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Saad Arslan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COMSATS Institute of Information Technology, Islamabad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D0BAA2-EECB-4E3D-9980-7486EA816E1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94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b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6667</TotalTime>
  <Words>1014</Words>
  <Application>Microsoft Office PowerPoint</Application>
  <PresentationFormat>On-screen Show (4:3)</PresentationFormat>
  <Paragraphs>313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Cambria Math</vt:lpstr>
      <vt:lpstr>Retrospect</vt:lpstr>
      <vt:lpstr>Physical Structure of CMOS ICs</vt:lpstr>
      <vt:lpstr>Physical Structure of CMOS Integrated Circuits</vt:lpstr>
      <vt:lpstr>Integrated Circuit Layers</vt:lpstr>
      <vt:lpstr>Integrated Circuit Layers cont.</vt:lpstr>
      <vt:lpstr>Integrated Circuit Layers Adding more layers</vt:lpstr>
      <vt:lpstr>IC Layers – Interconnect Resistance &amp; Capacitance</vt:lpstr>
      <vt:lpstr>IC Layers Interconnect Resistance</vt:lpstr>
      <vt:lpstr>IC Layers Interconnect Resistance cont.</vt:lpstr>
      <vt:lpstr>IC Layers Interconnect Resistance cont.</vt:lpstr>
      <vt:lpstr>IC Layers Interconnect Capacitance</vt:lpstr>
      <vt:lpstr>IC Layers Interconnect Capacitance cont.</vt:lpstr>
      <vt:lpstr>IC Layers Interconnect Time Constant</vt:lpstr>
      <vt:lpstr>IC layers of a MOSFET</vt:lpstr>
      <vt:lpstr>Physical Structure of a MOSFET Various Layers</vt:lpstr>
      <vt:lpstr>Physical Structure of a MOSFET Various Layers cont.</vt:lpstr>
      <vt:lpstr>Electrical Conduction in Silicon Intrinsic Semiconductor</vt:lpstr>
      <vt:lpstr>Electrical Conduction in Silicon Charge Carriers</vt:lpstr>
      <vt:lpstr>Electrical Conduction in Silicon Donor Doping</vt:lpstr>
      <vt:lpstr>Electrical Conduction in Silicon Acceptor Doping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CALL, Timing and pipelining</dc:title>
  <dc:creator>Saad Arslan</dc:creator>
  <cp:lastModifiedBy>Saad Arslan</cp:lastModifiedBy>
  <cp:revision>1310</cp:revision>
  <dcterms:created xsi:type="dcterms:W3CDTF">2014-10-10T10:05:59Z</dcterms:created>
  <dcterms:modified xsi:type="dcterms:W3CDTF">2016-02-24T14:23:15Z</dcterms:modified>
</cp:coreProperties>
</file>